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692640" y="-914400"/>
            <a:ext cx="3931920" cy="3931920"/>
          </a:xfrm>
          <a:prstGeom prst="ellipse">
            <a:avLst/>
          </a:prstGeom>
          <a:solidFill>
            <a:srgbClr val="0E2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58368" y="6510528"/>
            <a:ext cx="6858000" cy="1828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900" b="1">
                <a:solidFill>
                  <a:srgbClr val="9FB1CA"/>
                </a:solidFill>
                <a:latin typeface="Aptos"/>
              </a:defRPr>
            </a:pPr>
            <a:r>
              <a:t>TELECOM NETOPS AI ASSISTANT  /  CAPSTONE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ABF164B-3CEA-0995-31AC-D01714C9E0B7}"/>
              </a:ext>
            </a:extLst>
          </p:cNvPr>
          <p:cNvSpPr txBox="1"/>
          <p:nvPr/>
        </p:nvSpPr>
        <p:spPr>
          <a:xfrm>
            <a:off x="816077" y="1288026"/>
            <a:ext cx="8759559" cy="36625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8000" dirty="0">
                <a:solidFill>
                  <a:schemeClr val="bg1">
                    <a:lumMod val="95000"/>
                  </a:schemeClr>
                </a:solidFill>
              </a:rPr>
              <a:t> Telecom NetOps AI Assistant</a:t>
            </a:r>
            <a:endParaRPr lang="en-IN" sz="4000" dirty="0">
              <a:solidFill>
                <a:schemeClr val="bg1">
                  <a:lumMod val="95000"/>
                </a:schemeClr>
              </a:solidFill>
            </a:endParaRPr>
          </a:p>
          <a:p>
            <a:endParaRPr lang="en-IN" sz="2400" dirty="0">
              <a:solidFill>
                <a:schemeClr val="bg1">
                  <a:lumMod val="95000"/>
                </a:schemeClr>
              </a:solidFill>
            </a:endParaRPr>
          </a:p>
          <a:p>
            <a:r>
              <a:rPr lang="en-IN" sz="2400" dirty="0">
                <a:solidFill>
                  <a:schemeClr val="bg1">
                    <a:lumMod val="95000"/>
                  </a:schemeClr>
                </a:solidFill>
              </a:rPr>
              <a:t>Autonomous 5G Incident Retrieval, Diagnosis, and Decision Support</a:t>
            </a:r>
            <a:endParaRPr lang="en-IN" sz="13800" dirty="0">
              <a:solidFill>
                <a:schemeClr val="bg1">
                  <a:lumMod val="95000"/>
                </a:schemeClr>
              </a:solidFill>
            </a:endParaRPr>
          </a:p>
          <a:p>
            <a:endParaRPr lang="en-IN" sz="24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4CEE270-1C97-4CEA-EC37-ECFBBFCA8A77}"/>
              </a:ext>
            </a:extLst>
          </p:cNvPr>
          <p:cNvSpPr/>
          <p:nvPr/>
        </p:nvSpPr>
        <p:spPr>
          <a:xfrm>
            <a:off x="658368" y="1746504"/>
            <a:ext cx="658368" cy="41148"/>
          </a:xfrm>
          <a:prstGeom prst="rect">
            <a:avLst/>
          </a:prstGeom>
          <a:solidFill>
            <a:srgbClr val="2AD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BA689B5-BFA4-C64E-ED1B-A134FCD9411A}"/>
              </a:ext>
            </a:extLst>
          </p:cNvPr>
          <p:cNvSpPr/>
          <p:nvPr/>
        </p:nvSpPr>
        <p:spPr>
          <a:xfrm>
            <a:off x="9404161" y="4288143"/>
            <a:ext cx="658368" cy="41148"/>
          </a:xfrm>
          <a:prstGeom prst="rect">
            <a:avLst/>
          </a:prstGeom>
          <a:solidFill>
            <a:srgbClr val="2AD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F1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A1C8DD4-8F28-57A1-99D4-580AD0E51D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DEF83C2D-63E8-59D8-E499-E2450B8B1034}"/>
              </a:ext>
            </a:extLst>
          </p:cNvPr>
          <p:cNvSpPr/>
          <p:nvPr/>
        </p:nvSpPr>
        <p:spPr>
          <a:xfrm>
            <a:off x="9692640" y="-914400"/>
            <a:ext cx="3931920" cy="3931920"/>
          </a:xfrm>
          <a:prstGeom prst="ellipse">
            <a:avLst/>
          </a:prstGeom>
          <a:solidFill>
            <a:srgbClr val="0E2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BF80828-123C-4840-8632-689B7F58342C}"/>
              </a:ext>
            </a:extLst>
          </p:cNvPr>
          <p:cNvSpPr txBox="1"/>
          <p:nvPr/>
        </p:nvSpPr>
        <p:spPr>
          <a:xfrm>
            <a:off x="658368" y="347472"/>
            <a:ext cx="2011680" cy="190821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1">
                <a:solidFill>
                  <a:srgbClr val="2AD6E6"/>
                </a:solidFill>
                <a:latin typeface="Aptos"/>
              </a:defRPr>
            </a:pPr>
            <a:r>
              <a:rPr dirty="0"/>
              <a:t>SLIDE 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942366-9DF0-2E94-9618-72BC28F1B4AE}"/>
              </a:ext>
            </a:extLst>
          </p:cNvPr>
          <p:cNvSpPr txBox="1"/>
          <p:nvPr/>
        </p:nvSpPr>
        <p:spPr>
          <a:xfrm>
            <a:off x="658368" y="658368"/>
            <a:ext cx="10515600" cy="56692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3000" b="1">
                <a:solidFill>
                  <a:srgbClr val="EFF6FF"/>
                </a:solidFill>
                <a:latin typeface="Aptos"/>
              </a:defRPr>
            </a:pPr>
            <a:r>
              <a:t>Problem Statement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1660289-00FD-214E-546B-21306E7AF1C5}"/>
              </a:ext>
            </a:extLst>
          </p:cNvPr>
          <p:cNvSpPr txBox="1"/>
          <p:nvPr/>
        </p:nvSpPr>
        <p:spPr>
          <a:xfrm>
            <a:off x="676656" y="1298448"/>
            <a:ext cx="10515600" cy="34747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500" b="0">
                <a:solidFill>
                  <a:srgbClr val="9FB1CA"/>
                </a:solidFill>
                <a:latin typeface="Aptos"/>
              </a:defRPr>
            </a:pPr>
            <a:r>
              <a:t>5G incidents move faster than manual triage can scale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178822D-5E9E-0344-2AFD-B66F9B5304B0}"/>
              </a:ext>
            </a:extLst>
          </p:cNvPr>
          <p:cNvSpPr/>
          <p:nvPr/>
        </p:nvSpPr>
        <p:spPr>
          <a:xfrm>
            <a:off x="658368" y="1746504"/>
            <a:ext cx="658368" cy="41148"/>
          </a:xfrm>
          <a:prstGeom prst="rect">
            <a:avLst/>
          </a:prstGeom>
          <a:solidFill>
            <a:srgbClr val="2AD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1466C74-AF5D-ADD0-E7FD-48A831474FA0}"/>
              </a:ext>
            </a:extLst>
          </p:cNvPr>
          <p:cNvSpPr txBox="1"/>
          <p:nvPr/>
        </p:nvSpPr>
        <p:spPr>
          <a:xfrm>
            <a:off x="658368" y="1993392"/>
            <a:ext cx="5486400" cy="4069080"/>
          </a:xfrm>
          <a:prstGeom prst="rect">
            <a:avLst/>
          </a:prstGeom>
          <a:noFill/>
        </p:spPr>
        <p:txBody>
          <a:bodyPr wrap="square" lIns="27432" tIns="18288" rIns="54864" bIns="18288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EFF6FF"/>
                </a:solidFill>
                <a:latin typeface="Aptos"/>
              </a:defRPr>
            </a:pPr>
            <a:r>
              <a:t>•  Telemetry volume and alarm correlation overwhelm manual, siloed workflows</a:t>
            </a:r>
          </a:p>
          <a:p>
            <a:pPr>
              <a:spcAft>
                <a:spcPts val="1800"/>
              </a:spcAft>
              <a:defRPr sz="1800">
                <a:solidFill>
                  <a:srgbClr val="EFF6FF"/>
                </a:solidFill>
                <a:latin typeface="Aptos"/>
              </a:defRPr>
            </a:pPr>
            <a:r>
              <a:t>•  Symptoms overlap: latency, throughput, packet loss and handover degradation</a:t>
            </a:r>
          </a:p>
          <a:p>
            <a:pPr>
              <a:spcAft>
                <a:spcPts val="1800"/>
              </a:spcAft>
              <a:defRPr sz="1800">
                <a:solidFill>
                  <a:srgbClr val="EFF6FF"/>
                </a:solidFill>
                <a:latin typeface="Aptos"/>
              </a:defRPr>
            </a:pPr>
            <a:r>
              <a:t>•  Context is fragmented across geography, season, weather and historical incidents</a:t>
            </a:r>
          </a:p>
          <a:p>
            <a:pPr>
              <a:spcAft>
                <a:spcPts val="1800"/>
              </a:spcAft>
              <a:defRPr sz="1800">
                <a:solidFill>
                  <a:srgbClr val="EFF6FF"/>
                </a:solidFill>
                <a:latin typeface="Aptos"/>
              </a:defRPr>
            </a:pPr>
            <a:r>
              <a:t>•  Slow, inconsistent diagnosis increases MTTR and risks SLA impact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E7B84E8C-1327-2E06-256B-AA2291E800AF}"/>
              </a:ext>
            </a:extLst>
          </p:cNvPr>
          <p:cNvSpPr/>
          <p:nvPr/>
        </p:nvSpPr>
        <p:spPr>
          <a:xfrm>
            <a:off x="6446520" y="1874519"/>
            <a:ext cx="5074920" cy="4160520"/>
          </a:xfrm>
          <a:prstGeom prst="roundRect">
            <a:avLst/>
          </a:prstGeom>
          <a:solidFill>
            <a:srgbClr val="101D33"/>
          </a:solidFill>
          <a:ln w="10160">
            <a:solidFill>
              <a:srgbClr val="2A3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6DAAEBA8-BCE5-E34C-EDCF-9779AF9D17F9}"/>
              </a:ext>
            </a:extLst>
          </p:cNvPr>
          <p:cNvSpPr/>
          <p:nvPr/>
        </p:nvSpPr>
        <p:spPr>
          <a:xfrm>
            <a:off x="6720840" y="2084831"/>
            <a:ext cx="1508760" cy="292608"/>
          </a:xfrm>
          <a:prstGeom prst="roundRect">
            <a:avLst/>
          </a:prstGeom>
          <a:solidFill>
            <a:srgbClr val="FF677A"/>
          </a:solidFill>
          <a:ln>
            <a:solidFill>
              <a:srgbClr val="FF67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2656E16-8022-4F66-46FF-C9140DA8F27F}"/>
              </a:ext>
            </a:extLst>
          </p:cNvPr>
          <p:cNvSpPr txBox="1"/>
          <p:nvPr/>
        </p:nvSpPr>
        <p:spPr>
          <a:xfrm>
            <a:off x="6793992" y="2121408"/>
            <a:ext cx="1362456" cy="20116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900" b="1">
                <a:solidFill>
                  <a:srgbClr val="FF677A"/>
                </a:solidFill>
                <a:latin typeface="Aptos"/>
              </a:defRPr>
            </a:pPr>
            <a:r>
              <a:t>TRADITIONAL NOC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97AED4A6-6F87-7F19-CC39-49EE334B7F27}"/>
              </a:ext>
            </a:extLst>
          </p:cNvPr>
          <p:cNvSpPr/>
          <p:nvPr/>
        </p:nvSpPr>
        <p:spPr>
          <a:xfrm>
            <a:off x="9464040" y="2084831"/>
            <a:ext cx="1508760" cy="292608"/>
          </a:xfrm>
          <a:prstGeom prst="roundRect">
            <a:avLst/>
          </a:prstGeom>
          <a:solidFill>
            <a:srgbClr val="2AD6E6"/>
          </a:solidFill>
          <a:ln>
            <a:solidFill>
              <a:srgbClr val="2AD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DC08FBC-7061-5A65-0854-074B16FF328A}"/>
              </a:ext>
            </a:extLst>
          </p:cNvPr>
          <p:cNvSpPr txBox="1"/>
          <p:nvPr/>
        </p:nvSpPr>
        <p:spPr>
          <a:xfrm>
            <a:off x="9537192" y="2121408"/>
            <a:ext cx="1362456" cy="20116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900" b="1">
                <a:solidFill>
                  <a:srgbClr val="2AD6E6"/>
                </a:solidFill>
                <a:latin typeface="Aptos"/>
              </a:defRPr>
            </a:pPr>
            <a:r>
              <a:t>5G REALITY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3ED22780-05F5-0E9C-D950-5A2201D70BD3}"/>
              </a:ext>
            </a:extLst>
          </p:cNvPr>
          <p:cNvSpPr/>
          <p:nvPr/>
        </p:nvSpPr>
        <p:spPr>
          <a:xfrm>
            <a:off x="6720840" y="2606040"/>
            <a:ext cx="1828800" cy="530352"/>
          </a:xfrm>
          <a:prstGeom prst="roundRect">
            <a:avLst/>
          </a:prstGeom>
          <a:solidFill>
            <a:srgbClr val="152741"/>
          </a:solidFill>
          <a:ln w="10160">
            <a:solidFill>
              <a:srgbClr val="FF67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2D5E948-96A3-27CC-D01A-EE75AE43AC2E}"/>
              </a:ext>
            </a:extLst>
          </p:cNvPr>
          <p:cNvSpPr txBox="1"/>
          <p:nvPr/>
        </p:nvSpPr>
        <p:spPr>
          <a:xfrm>
            <a:off x="6839712" y="2724912"/>
            <a:ext cx="160020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200" b="1">
                <a:solidFill>
                  <a:srgbClr val="EFF6FF"/>
                </a:solidFill>
                <a:latin typeface="Aptos"/>
              </a:defRPr>
            </a:pPr>
            <a:r>
              <a:t>Alarm queue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7D4CCE3-49A5-B884-B8F3-C6A314E90D1C}"/>
              </a:ext>
            </a:extLst>
          </p:cNvPr>
          <p:cNvSpPr txBox="1"/>
          <p:nvPr/>
        </p:nvSpPr>
        <p:spPr>
          <a:xfrm>
            <a:off x="8668512" y="2715768"/>
            <a:ext cx="41148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800" b="1">
                <a:solidFill>
                  <a:srgbClr val="FF677A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10C458B4-DD10-66A7-B408-762A95B24057}"/>
              </a:ext>
            </a:extLst>
          </p:cNvPr>
          <p:cNvSpPr/>
          <p:nvPr/>
        </p:nvSpPr>
        <p:spPr>
          <a:xfrm>
            <a:off x="9144000" y="2606040"/>
            <a:ext cx="2057400" cy="530352"/>
          </a:xfrm>
          <a:prstGeom prst="roundRect">
            <a:avLst/>
          </a:prstGeom>
          <a:solidFill>
            <a:srgbClr val="152741"/>
          </a:solidFill>
          <a:ln w="10160">
            <a:solidFill>
              <a:srgbClr val="2AD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A8FB463-7312-74BB-9AE0-2C10E04EDF21}"/>
              </a:ext>
            </a:extLst>
          </p:cNvPr>
          <p:cNvSpPr txBox="1"/>
          <p:nvPr/>
        </p:nvSpPr>
        <p:spPr>
          <a:xfrm>
            <a:off x="9262872" y="2715768"/>
            <a:ext cx="1828800" cy="31089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200" b="1">
                <a:solidFill>
                  <a:srgbClr val="EFF6FF"/>
                </a:solidFill>
                <a:latin typeface="Aptos"/>
              </a:defRPr>
            </a:pPr>
            <a:r>
              <a:t>Volume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45FFB5D7-9E4D-083B-5B4F-E7FDB6CC415C}"/>
              </a:ext>
            </a:extLst>
          </p:cNvPr>
          <p:cNvSpPr/>
          <p:nvPr/>
        </p:nvSpPr>
        <p:spPr>
          <a:xfrm>
            <a:off x="6720840" y="3383280"/>
            <a:ext cx="1828800" cy="530352"/>
          </a:xfrm>
          <a:prstGeom prst="roundRect">
            <a:avLst/>
          </a:prstGeom>
          <a:solidFill>
            <a:srgbClr val="152741"/>
          </a:solidFill>
          <a:ln w="10160">
            <a:solidFill>
              <a:srgbClr val="FF67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FDD29BD-9EA1-79C8-6169-B9B45210A1E3}"/>
              </a:ext>
            </a:extLst>
          </p:cNvPr>
          <p:cNvSpPr txBox="1"/>
          <p:nvPr/>
        </p:nvSpPr>
        <p:spPr>
          <a:xfrm>
            <a:off x="6839712" y="3502152"/>
            <a:ext cx="160020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200" b="1">
                <a:solidFill>
                  <a:srgbClr val="EFF6FF"/>
                </a:solidFill>
                <a:latin typeface="Aptos"/>
              </a:defRPr>
            </a:pPr>
            <a:r>
              <a:t>Manual correlation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A02ABD5-51C3-53E4-8F32-10C8BEEE9AF0}"/>
              </a:ext>
            </a:extLst>
          </p:cNvPr>
          <p:cNvSpPr txBox="1"/>
          <p:nvPr/>
        </p:nvSpPr>
        <p:spPr>
          <a:xfrm>
            <a:off x="8668512" y="3493008"/>
            <a:ext cx="41148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800" b="1">
                <a:solidFill>
                  <a:srgbClr val="FF677A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DEF56523-F804-1998-DD7E-599434C4FA7F}"/>
              </a:ext>
            </a:extLst>
          </p:cNvPr>
          <p:cNvSpPr/>
          <p:nvPr/>
        </p:nvSpPr>
        <p:spPr>
          <a:xfrm>
            <a:off x="9144000" y="3383280"/>
            <a:ext cx="2057400" cy="530352"/>
          </a:xfrm>
          <a:prstGeom prst="roundRect">
            <a:avLst/>
          </a:prstGeom>
          <a:solidFill>
            <a:srgbClr val="152741"/>
          </a:solidFill>
          <a:ln w="10160">
            <a:solidFill>
              <a:srgbClr val="2AD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49C7280-90F5-5516-D332-F51AD8434386}"/>
              </a:ext>
            </a:extLst>
          </p:cNvPr>
          <p:cNvSpPr txBox="1"/>
          <p:nvPr/>
        </p:nvSpPr>
        <p:spPr>
          <a:xfrm>
            <a:off x="9262872" y="3493008"/>
            <a:ext cx="1828800" cy="31089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200" b="1">
                <a:solidFill>
                  <a:srgbClr val="EFF6FF"/>
                </a:solidFill>
                <a:latin typeface="Aptos"/>
              </a:defRPr>
            </a:pPr>
            <a:r>
              <a:t>Fragmented signals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1F1BD35F-03E2-9DBF-255A-17E2090F6920}"/>
              </a:ext>
            </a:extLst>
          </p:cNvPr>
          <p:cNvSpPr/>
          <p:nvPr/>
        </p:nvSpPr>
        <p:spPr>
          <a:xfrm>
            <a:off x="6720840" y="4160520"/>
            <a:ext cx="1828800" cy="530352"/>
          </a:xfrm>
          <a:prstGeom prst="roundRect">
            <a:avLst/>
          </a:prstGeom>
          <a:solidFill>
            <a:srgbClr val="152741"/>
          </a:solidFill>
          <a:ln w="10160">
            <a:solidFill>
              <a:srgbClr val="FF67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7DFFE8C-D8ED-91A1-A8D7-8B64C3FA18F8}"/>
              </a:ext>
            </a:extLst>
          </p:cNvPr>
          <p:cNvSpPr txBox="1"/>
          <p:nvPr/>
        </p:nvSpPr>
        <p:spPr>
          <a:xfrm>
            <a:off x="6839712" y="4279392"/>
            <a:ext cx="160020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200" b="1">
                <a:solidFill>
                  <a:srgbClr val="EFF6FF"/>
                </a:solidFill>
                <a:latin typeface="Aptos"/>
              </a:defRPr>
            </a:pPr>
            <a:r>
              <a:t>Escalation loop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69F1F67-5DE0-6E21-D8B1-93C3BB936F5C}"/>
              </a:ext>
            </a:extLst>
          </p:cNvPr>
          <p:cNvSpPr txBox="1"/>
          <p:nvPr/>
        </p:nvSpPr>
        <p:spPr>
          <a:xfrm>
            <a:off x="8668512" y="4270248"/>
            <a:ext cx="41148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800" b="1">
                <a:solidFill>
                  <a:srgbClr val="FF677A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0AD6C83B-CFA9-0429-015A-27045ECD8AD5}"/>
              </a:ext>
            </a:extLst>
          </p:cNvPr>
          <p:cNvSpPr/>
          <p:nvPr/>
        </p:nvSpPr>
        <p:spPr>
          <a:xfrm>
            <a:off x="9144000" y="4160520"/>
            <a:ext cx="2057400" cy="530352"/>
          </a:xfrm>
          <a:prstGeom prst="roundRect">
            <a:avLst/>
          </a:prstGeom>
          <a:solidFill>
            <a:srgbClr val="152741"/>
          </a:solidFill>
          <a:ln w="10160">
            <a:solidFill>
              <a:srgbClr val="2AD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697F9DE-2113-C6FE-FF21-4D05FA9DC359}"/>
              </a:ext>
            </a:extLst>
          </p:cNvPr>
          <p:cNvSpPr txBox="1"/>
          <p:nvPr/>
        </p:nvSpPr>
        <p:spPr>
          <a:xfrm>
            <a:off x="9262872" y="4270248"/>
            <a:ext cx="1828800" cy="31089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200" b="1">
                <a:solidFill>
                  <a:srgbClr val="EFF6FF"/>
                </a:solidFill>
                <a:latin typeface="Aptos"/>
              </a:defRPr>
            </a:pPr>
            <a:r>
              <a:t>Slow decisions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3C65824-7DD4-51C1-CEB2-F1CD6CDD67E5}"/>
              </a:ext>
            </a:extLst>
          </p:cNvPr>
          <p:cNvSpPr txBox="1"/>
          <p:nvPr/>
        </p:nvSpPr>
        <p:spPr>
          <a:xfrm>
            <a:off x="6812280" y="5257800"/>
            <a:ext cx="4389120" cy="38404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100" b="0">
                <a:solidFill>
                  <a:srgbClr val="9FB1CA"/>
                </a:solidFill>
                <a:latin typeface="Aptos"/>
              </a:defRPr>
            </a:pPr>
            <a:r>
              <a:t>Signals: latency • throughput • loss • handovers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E311265-FD86-5D4F-42DC-ACE87FBB89B5}"/>
              </a:ext>
            </a:extLst>
          </p:cNvPr>
          <p:cNvSpPr txBox="1"/>
          <p:nvPr/>
        </p:nvSpPr>
        <p:spPr>
          <a:xfrm>
            <a:off x="658368" y="6510528"/>
            <a:ext cx="6858000" cy="1828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900" b="1">
                <a:solidFill>
                  <a:srgbClr val="9FB1CA"/>
                </a:solidFill>
                <a:latin typeface="Aptos"/>
              </a:defRPr>
            </a:pPr>
            <a:r>
              <a:t>TELECOM NETOPS AI ASSISTANT  /  CAPSTONE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F0202DA-6330-BDCD-6451-57903AD48FD3}"/>
              </a:ext>
            </a:extLst>
          </p:cNvPr>
          <p:cNvSpPr txBox="1"/>
          <p:nvPr/>
        </p:nvSpPr>
        <p:spPr>
          <a:xfrm>
            <a:off x="10652760" y="6473952"/>
            <a:ext cx="822960" cy="190821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r">
              <a:defRPr sz="1000" b="1">
                <a:solidFill>
                  <a:srgbClr val="2AD6E6"/>
                </a:solidFill>
                <a:latin typeface="Aptos"/>
              </a:defRPr>
            </a:pPr>
            <a:r>
              <a:rPr dirty="0"/>
              <a:t>1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8C2DC03-2555-0E7E-FEDA-7566A09D4FEE}"/>
              </a:ext>
            </a:extLst>
          </p:cNvPr>
          <p:cNvSpPr/>
          <p:nvPr/>
        </p:nvSpPr>
        <p:spPr>
          <a:xfrm>
            <a:off x="658368" y="6382512"/>
            <a:ext cx="10881360" cy="10972"/>
          </a:xfrm>
          <a:prstGeom prst="rect">
            <a:avLst/>
          </a:prstGeom>
          <a:solidFill>
            <a:srgbClr val="2A3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017872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692640" y="-914400"/>
            <a:ext cx="3931920" cy="3931920"/>
          </a:xfrm>
          <a:prstGeom prst="ellipse">
            <a:avLst/>
          </a:prstGeom>
          <a:solidFill>
            <a:srgbClr val="0E2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2011680" cy="190821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1">
                <a:solidFill>
                  <a:srgbClr val="2AD6E6"/>
                </a:solidFill>
                <a:latin typeface="Aptos"/>
              </a:defRPr>
            </a:pPr>
            <a:r>
              <a:rPr dirty="0"/>
              <a:t>SLIDE </a:t>
            </a:r>
            <a:r>
              <a:rPr lang="en-IN" dirty="0"/>
              <a:t> 2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515600" cy="56692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3000" b="1">
                <a:solidFill>
                  <a:srgbClr val="EFF6FF"/>
                </a:solidFill>
                <a:latin typeface="Aptos"/>
              </a:defRPr>
            </a:pPr>
            <a:r>
              <a:t>Business Need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298448"/>
            <a:ext cx="10515600" cy="34747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500" b="0">
                <a:solidFill>
                  <a:srgbClr val="9FB1CA"/>
                </a:solidFill>
                <a:latin typeface="Aptos"/>
              </a:defRPr>
            </a:pPr>
            <a:r>
              <a:t>Turn faster diagnosis into measurable operational value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746504"/>
            <a:ext cx="658368" cy="41148"/>
          </a:xfrm>
          <a:prstGeom prst="rect">
            <a:avLst/>
          </a:prstGeom>
          <a:solidFill>
            <a:srgbClr val="2AD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1993392"/>
            <a:ext cx="5486400" cy="4069080"/>
          </a:xfrm>
          <a:prstGeom prst="rect">
            <a:avLst/>
          </a:prstGeom>
          <a:noFill/>
        </p:spPr>
        <p:txBody>
          <a:bodyPr wrap="square" lIns="27432" tIns="18288" rIns="54864" bIns="18288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EFF6FF"/>
                </a:solidFill>
                <a:latin typeface="Aptos"/>
              </a:defRPr>
            </a:pPr>
            <a:r>
              <a:t>•  Reduce mean time to repair (MTTR) by surfacing relevant incidents and evidence sooner</a:t>
            </a:r>
          </a:p>
          <a:p>
            <a:pPr>
              <a:spcAft>
                <a:spcPts val="1800"/>
              </a:spcAft>
              <a:defRPr sz="1800">
                <a:solidFill>
                  <a:srgbClr val="EFF6FF"/>
                </a:solidFill>
                <a:latin typeface="Aptos"/>
              </a:defRPr>
            </a:pPr>
            <a:r>
              <a:t>•  Avoid preventable SLA penalties through earlier risk visibility and escalation</a:t>
            </a:r>
          </a:p>
          <a:p>
            <a:pPr>
              <a:spcAft>
                <a:spcPts val="1800"/>
              </a:spcAft>
              <a:defRPr sz="1800">
                <a:solidFill>
                  <a:srgbClr val="EFF6FF"/>
                </a:solidFill>
                <a:latin typeface="Aptos"/>
              </a:defRPr>
            </a:pPr>
            <a:r>
              <a:t>•  Improve OPEX efficiency by reducing repetitive manual searching and triage effort</a:t>
            </a:r>
          </a:p>
          <a:p>
            <a:pPr>
              <a:spcAft>
                <a:spcPts val="1800"/>
              </a:spcAft>
              <a:defRPr sz="1800">
                <a:solidFill>
                  <a:srgbClr val="EFF6FF"/>
                </a:solidFill>
                <a:latin typeface="Aptos"/>
              </a:defRPr>
            </a:pPr>
            <a:r>
              <a:t>•  Give operators consistent, auditable decision support—not an unverified autopilot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46520" y="1874519"/>
            <a:ext cx="5074920" cy="4160520"/>
          </a:xfrm>
          <a:prstGeom prst="roundRect">
            <a:avLst/>
          </a:prstGeom>
          <a:solidFill>
            <a:srgbClr val="101D33"/>
          </a:solidFill>
          <a:ln w="10160">
            <a:solidFill>
              <a:srgbClr val="2A3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720840" y="2514600"/>
            <a:ext cx="1371600" cy="1554480"/>
          </a:xfrm>
          <a:prstGeom prst="roundRect">
            <a:avLst/>
          </a:prstGeom>
          <a:solidFill>
            <a:srgbClr val="152741"/>
          </a:solidFill>
          <a:ln w="10160">
            <a:solidFill>
              <a:srgbClr val="2AD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30568" y="2743200"/>
            <a:ext cx="1143000" cy="29260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400" b="1">
                <a:solidFill>
                  <a:srgbClr val="2AD6E6"/>
                </a:solidFill>
                <a:latin typeface="Aptos"/>
              </a:defRPr>
            </a:pPr>
            <a:r>
              <a:t>MTTR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30568" y="3273552"/>
            <a:ext cx="1143000" cy="5486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100" b="1">
                <a:solidFill>
                  <a:srgbClr val="EFF6FF"/>
                </a:solidFill>
                <a:latin typeface="Aptos"/>
              </a:defRPr>
            </a:pPr>
            <a:r>
              <a:t>↓ Faster triage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57031" y="2514600"/>
            <a:ext cx="1371600" cy="1554480"/>
          </a:xfrm>
          <a:prstGeom prst="roundRect">
            <a:avLst/>
          </a:prstGeom>
          <a:solidFill>
            <a:srgbClr val="152741"/>
          </a:solidFill>
          <a:ln w="10160">
            <a:solidFill>
              <a:srgbClr val="FFBE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66759" y="2743200"/>
            <a:ext cx="1143000" cy="29260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400" b="1">
                <a:solidFill>
                  <a:srgbClr val="FFBE4B"/>
                </a:solidFill>
                <a:latin typeface="Aptos"/>
              </a:defRPr>
            </a:pPr>
            <a:r>
              <a:t>SLA RISK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59" y="3273552"/>
            <a:ext cx="1143000" cy="5486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100" b="1">
                <a:solidFill>
                  <a:srgbClr val="EFF6FF"/>
                </a:solidFill>
                <a:latin typeface="Aptos"/>
              </a:defRPr>
            </a:pPr>
            <a:r>
              <a:t>↓ Earlier warning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793224" y="2514600"/>
            <a:ext cx="1371600" cy="1554480"/>
          </a:xfrm>
          <a:prstGeom prst="roundRect">
            <a:avLst/>
          </a:prstGeom>
          <a:solidFill>
            <a:srgbClr val="152741"/>
          </a:solidFill>
          <a:ln w="10160">
            <a:solidFill>
              <a:srgbClr val="47DC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902951" y="2743200"/>
            <a:ext cx="1143000" cy="29260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400" b="1">
                <a:solidFill>
                  <a:srgbClr val="47DCA5"/>
                </a:solidFill>
                <a:latin typeface="Aptos"/>
              </a:defRPr>
            </a:pPr>
            <a:r>
              <a:t>OPEX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02951" y="3273552"/>
            <a:ext cx="1143000" cy="5486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100" b="1">
                <a:solidFill>
                  <a:srgbClr val="EFF6FF"/>
                </a:solidFill>
                <a:latin typeface="Aptos"/>
              </a:defRPr>
            </a:pPr>
            <a:r>
              <a:t>↓ Less manual effort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03720" y="4526280"/>
            <a:ext cx="4251960" cy="685800"/>
          </a:xfrm>
          <a:prstGeom prst="roundRect">
            <a:avLst/>
          </a:prstGeom>
          <a:solidFill>
            <a:srgbClr val="152741"/>
          </a:solidFill>
          <a:ln w="10160">
            <a:solidFill>
              <a:srgbClr val="2A3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086600" y="4727448"/>
            <a:ext cx="388620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300" b="1">
                <a:solidFill>
                  <a:srgbClr val="2AD6E6"/>
                </a:solidFill>
                <a:latin typeface="Aptos"/>
              </a:defRPr>
            </a:pPr>
            <a:r>
              <a:t>Human approval remains in the loop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510528"/>
            <a:ext cx="6858000" cy="1828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900" b="1">
                <a:solidFill>
                  <a:srgbClr val="9FB1CA"/>
                </a:solidFill>
                <a:latin typeface="Aptos"/>
              </a:defRPr>
            </a:pPr>
            <a:r>
              <a:t>TELECOM NETOPS AI ASSISTANT  /  CAPSTONE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52760" y="6473952"/>
            <a:ext cx="822960" cy="190821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r">
              <a:defRPr sz="1000" b="1">
                <a:solidFill>
                  <a:srgbClr val="2AD6E6"/>
                </a:solidFill>
                <a:latin typeface="Aptos"/>
              </a:defRPr>
            </a:pPr>
            <a:r>
              <a:rPr lang="en-IN" dirty="0"/>
              <a:t>2</a:t>
            </a:r>
            <a:endParaRPr dirty="0"/>
          </a:p>
        </p:txBody>
      </p:sp>
      <p:sp>
        <p:nvSpPr>
          <p:cNvPr id="22" name="Rectangle 21"/>
          <p:cNvSpPr/>
          <p:nvPr/>
        </p:nvSpPr>
        <p:spPr>
          <a:xfrm>
            <a:off x="658368" y="6382512"/>
            <a:ext cx="10881360" cy="10972"/>
          </a:xfrm>
          <a:prstGeom prst="rect">
            <a:avLst/>
          </a:prstGeom>
          <a:solidFill>
            <a:srgbClr val="2A3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692640" y="-914400"/>
            <a:ext cx="3931920" cy="3931920"/>
          </a:xfrm>
          <a:prstGeom prst="ellipse">
            <a:avLst/>
          </a:prstGeom>
          <a:solidFill>
            <a:srgbClr val="0E2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2011680" cy="190821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1">
                <a:solidFill>
                  <a:srgbClr val="2AD6E6"/>
                </a:solidFill>
                <a:latin typeface="Aptos"/>
              </a:defRPr>
            </a:pPr>
            <a:r>
              <a:rPr dirty="0"/>
              <a:t>SLIDE </a:t>
            </a:r>
            <a:r>
              <a:rPr lang="en-IN" dirty="0"/>
              <a:t> 3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515600" cy="56692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3000" b="1">
                <a:solidFill>
                  <a:srgbClr val="EFF6FF"/>
                </a:solidFill>
                <a:latin typeface="Aptos"/>
              </a:defRPr>
            </a:pPr>
            <a:r>
              <a:t>Solution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298448"/>
            <a:ext cx="10515600" cy="34747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500" b="0">
                <a:solidFill>
                  <a:srgbClr val="9FB1CA"/>
                </a:solidFill>
                <a:latin typeface="Aptos"/>
              </a:defRPr>
            </a:pPr>
            <a:r>
              <a:t>An evidence-grounded assistant for incident retrieval, diagnosis and decisions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746504"/>
            <a:ext cx="658368" cy="41148"/>
          </a:xfrm>
          <a:prstGeom prst="rect">
            <a:avLst/>
          </a:prstGeom>
          <a:solidFill>
            <a:srgbClr val="2AD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1993392"/>
            <a:ext cx="5486400" cy="4069080"/>
          </a:xfrm>
          <a:prstGeom prst="rect">
            <a:avLst/>
          </a:prstGeom>
          <a:noFill/>
        </p:spPr>
        <p:txBody>
          <a:bodyPr wrap="square" lIns="27432" tIns="18288" rIns="54864" bIns="18288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EFF6FF"/>
                </a:solidFill>
                <a:latin typeface="Aptos"/>
              </a:defRPr>
            </a:pPr>
            <a:r>
              <a:t>•  Natural-language questions become telecom-scoped incident searches</a:t>
            </a:r>
          </a:p>
          <a:p>
            <a:pPr>
              <a:spcAft>
                <a:spcPts val="1800"/>
              </a:spcAft>
              <a:defRPr sz="1800">
                <a:solidFill>
                  <a:srgbClr val="EFF6FF"/>
                </a:solidFill>
                <a:latin typeface="Aptos"/>
              </a:defRPr>
            </a:pPr>
            <a:r>
              <a:t>•  Hybrid retrieval combines BM25 keywords with dense semantic similarity</a:t>
            </a:r>
          </a:p>
          <a:p>
            <a:pPr>
              <a:spcAft>
                <a:spcPts val="1800"/>
              </a:spcAft>
              <a:defRPr sz="1800">
                <a:solidFill>
                  <a:srgbClr val="EFF6FF"/>
                </a:solidFill>
                <a:latin typeface="Aptos"/>
              </a:defRPr>
            </a:pPr>
            <a:r>
              <a:t>•  Collaborative agents classify, prioritize, analyze causes and assess impact</a:t>
            </a:r>
          </a:p>
          <a:p>
            <a:pPr>
              <a:spcAft>
                <a:spcPts val="1800"/>
              </a:spcAft>
              <a:defRPr sz="1800">
                <a:solidFill>
                  <a:srgbClr val="EFF6FF"/>
                </a:solidFill>
                <a:latin typeface="Aptos"/>
              </a:defRPr>
            </a:pPr>
            <a:r>
              <a:t>•  LLM synthesis is checked by guardrails and an independent judge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46520" y="1874519"/>
            <a:ext cx="5074920" cy="4160520"/>
          </a:xfrm>
          <a:prstGeom prst="roundRect">
            <a:avLst/>
          </a:prstGeom>
          <a:solidFill>
            <a:srgbClr val="101D33"/>
          </a:solidFill>
          <a:ln w="10160">
            <a:solidFill>
              <a:srgbClr val="2A3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656832" y="2788920"/>
            <a:ext cx="1024128" cy="1234440"/>
          </a:xfrm>
          <a:prstGeom prst="roundRect">
            <a:avLst/>
          </a:prstGeom>
          <a:solidFill>
            <a:srgbClr val="152741"/>
          </a:solidFill>
          <a:ln w="10160">
            <a:solidFill>
              <a:srgbClr val="2AD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702552" y="2971800"/>
            <a:ext cx="932688" cy="23774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000" b="1">
                <a:solidFill>
                  <a:srgbClr val="2AD6E6"/>
                </a:solidFill>
                <a:latin typeface="Aptos"/>
              </a:defRPr>
            </a:pPr>
            <a:r>
              <a:t>QUERY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0840" y="3364992"/>
            <a:ext cx="896112" cy="43891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900" b="0">
                <a:solidFill>
                  <a:srgbClr val="EFF6FF"/>
                </a:solidFill>
                <a:latin typeface="Aptos"/>
              </a:defRPr>
            </a:pPr>
            <a:r>
              <a:t>Natural language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690104" y="3401568"/>
            <a:ext cx="137160" cy="0"/>
          </a:xfrm>
          <a:prstGeom prst="line">
            <a:avLst/>
          </a:prstGeom>
          <a:ln w="17780">
            <a:solidFill>
              <a:srgbClr val="2AD6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854696" y="2788920"/>
            <a:ext cx="1024128" cy="1234440"/>
          </a:xfrm>
          <a:prstGeom prst="roundRect">
            <a:avLst/>
          </a:prstGeom>
          <a:solidFill>
            <a:srgbClr val="152741"/>
          </a:solidFill>
          <a:ln w="10160">
            <a:solidFill>
              <a:srgbClr val="4D8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900416" y="2971800"/>
            <a:ext cx="932688" cy="23774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000" b="1">
                <a:solidFill>
                  <a:srgbClr val="4D82FF"/>
                </a:solidFill>
                <a:latin typeface="Aptos"/>
              </a:defRPr>
            </a:pPr>
            <a:r>
              <a:t>RETRIEVE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18704" y="3364992"/>
            <a:ext cx="896112" cy="43891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900" b="0">
                <a:solidFill>
                  <a:srgbClr val="EFF6FF"/>
                </a:solidFill>
                <a:latin typeface="Aptos"/>
              </a:defRPr>
            </a:pPr>
            <a:r>
              <a:t>BM25 + dense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887967" y="3401568"/>
            <a:ext cx="137161" cy="0"/>
          </a:xfrm>
          <a:prstGeom prst="line">
            <a:avLst/>
          </a:prstGeom>
          <a:ln w="17780">
            <a:solidFill>
              <a:srgbClr val="4D8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9052560" y="2788920"/>
            <a:ext cx="1024128" cy="1234440"/>
          </a:xfrm>
          <a:prstGeom prst="roundRect">
            <a:avLst/>
          </a:prstGeom>
          <a:solidFill>
            <a:srgbClr val="152741"/>
          </a:solidFill>
          <a:ln w="10160">
            <a:solidFill>
              <a:srgbClr val="9D7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098280" y="2971800"/>
            <a:ext cx="932688" cy="23774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000" b="1">
                <a:solidFill>
                  <a:srgbClr val="9D74FF"/>
                </a:solidFill>
                <a:latin typeface="Aptos"/>
              </a:defRPr>
            </a:pPr>
            <a:r>
              <a:t>ANALYZE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16568" y="3364992"/>
            <a:ext cx="896112" cy="43891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900" b="0">
                <a:solidFill>
                  <a:srgbClr val="EFF6FF"/>
                </a:solidFill>
                <a:latin typeface="Aptos"/>
              </a:defRPr>
            </a:pPr>
            <a:r>
              <a:t>9 agents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0085832" y="3401568"/>
            <a:ext cx="137160" cy="0"/>
          </a:xfrm>
          <a:prstGeom prst="line">
            <a:avLst/>
          </a:prstGeom>
          <a:ln w="17780">
            <a:solidFill>
              <a:srgbClr val="9D7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10250424" y="2788920"/>
            <a:ext cx="1024128" cy="1234440"/>
          </a:xfrm>
          <a:prstGeom prst="roundRect">
            <a:avLst/>
          </a:prstGeom>
          <a:solidFill>
            <a:srgbClr val="152741"/>
          </a:solidFill>
          <a:ln w="10160">
            <a:solidFill>
              <a:srgbClr val="47DC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296144" y="2971800"/>
            <a:ext cx="932688" cy="23774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000" b="1">
                <a:solidFill>
                  <a:srgbClr val="47DCA5"/>
                </a:solidFill>
                <a:latin typeface="Aptos"/>
              </a:defRPr>
            </a:pPr>
            <a:r>
              <a:t>RESPOND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14432" y="3364992"/>
            <a:ext cx="896112" cy="43891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900" b="0">
                <a:solidFill>
                  <a:srgbClr val="EFF6FF"/>
                </a:solidFill>
                <a:latin typeface="Aptos"/>
              </a:defRPr>
            </a:pPr>
            <a:r>
              <a:t>Evidence + citations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617720"/>
            <a:ext cx="4206240" cy="457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200" b="1">
                <a:solidFill>
                  <a:srgbClr val="9FB1CA"/>
                </a:solidFill>
                <a:latin typeface="Aptos"/>
              </a:defRPr>
            </a:pPr>
            <a:r>
              <a:t>Guardrails + LLM-as-Judge verify before delivery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6510528"/>
            <a:ext cx="6858000" cy="1828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900" b="1">
                <a:solidFill>
                  <a:srgbClr val="9FB1CA"/>
                </a:solidFill>
                <a:latin typeface="Aptos"/>
              </a:defRPr>
            </a:pPr>
            <a:r>
              <a:t>TELECOM NETOPS AI ASSISTANT  /  CAPSTONE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52760" y="6473952"/>
            <a:ext cx="822960" cy="190821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r">
              <a:defRPr sz="1000" b="1">
                <a:solidFill>
                  <a:srgbClr val="2AD6E6"/>
                </a:solidFill>
                <a:latin typeface="Aptos"/>
              </a:defRPr>
            </a:pPr>
            <a:r>
              <a:rPr lang="en-IN" dirty="0"/>
              <a:t>3</a:t>
            </a:r>
            <a:endParaRPr dirty="0"/>
          </a:p>
        </p:txBody>
      </p:sp>
      <p:sp>
        <p:nvSpPr>
          <p:cNvPr id="27" name="Rectangle 26"/>
          <p:cNvSpPr/>
          <p:nvPr/>
        </p:nvSpPr>
        <p:spPr>
          <a:xfrm>
            <a:off x="658368" y="6382512"/>
            <a:ext cx="10881360" cy="10972"/>
          </a:xfrm>
          <a:prstGeom prst="rect">
            <a:avLst/>
          </a:prstGeom>
          <a:solidFill>
            <a:srgbClr val="2A3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692640" y="-914400"/>
            <a:ext cx="3931920" cy="3931920"/>
          </a:xfrm>
          <a:prstGeom prst="ellipse">
            <a:avLst/>
          </a:prstGeom>
          <a:solidFill>
            <a:srgbClr val="0E2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2011680" cy="190821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1">
                <a:solidFill>
                  <a:srgbClr val="2AD6E6"/>
                </a:solidFill>
                <a:latin typeface="Aptos"/>
              </a:defRPr>
            </a:pPr>
            <a:r>
              <a:rPr dirty="0"/>
              <a:t>SLIDE </a:t>
            </a:r>
            <a:r>
              <a:rPr lang="en-IN" dirty="0"/>
              <a:t> 4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515600" cy="56692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3000" b="1">
                <a:solidFill>
                  <a:srgbClr val="EFF6FF"/>
                </a:solidFill>
                <a:latin typeface="Aptos"/>
              </a:defRPr>
            </a:pPr>
            <a: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298448"/>
            <a:ext cx="10515600" cy="34747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500" b="0">
                <a:solidFill>
                  <a:srgbClr val="9FB1CA"/>
                </a:solidFill>
                <a:latin typeface="Aptos"/>
              </a:defRPr>
            </a:pPr>
            <a:r>
              <a:t>A modular service design separates retrieval, reasoning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746504"/>
            <a:ext cx="658368" cy="41148"/>
          </a:xfrm>
          <a:prstGeom prst="rect">
            <a:avLst/>
          </a:prstGeom>
          <a:solidFill>
            <a:srgbClr val="2AD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1993392"/>
            <a:ext cx="5486400" cy="4069080"/>
          </a:xfrm>
          <a:prstGeom prst="rect">
            <a:avLst/>
          </a:prstGeom>
          <a:noFill/>
        </p:spPr>
        <p:txBody>
          <a:bodyPr wrap="square" lIns="27432" tIns="18288" rIns="54864" bIns="18288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EFF6FF"/>
                </a:solidFill>
                <a:latin typeface="Aptos"/>
              </a:defRPr>
            </a:pPr>
            <a:r>
              <a:t>•  Client layer: Streamlit dark command center for search, diagnosis and feedback</a:t>
            </a:r>
          </a:p>
          <a:p>
            <a:pPr>
              <a:spcAft>
                <a:spcPts val="1800"/>
              </a:spcAft>
              <a:defRPr sz="1800">
                <a:solidFill>
                  <a:srgbClr val="EFF6FF"/>
                </a:solidFill>
                <a:latin typeface="Aptos"/>
              </a:defRPr>
            </a:pPr>
            <a:r>
              <a:t>•  FastAPI service layer: validated endpoints, orchestration, health and metadata</a:t>
            </a:r>
          </a:p>
          <a:p>
            <a:pPr>
              <a:spcAft>
                <a:spcPts val="1800"/>
              </a:spcAft>
              <a:defRPr sz="1800">
                <a:solidFill>
                  <a:srgbClr val="EFF6FF"/>
                </a:solidFill>
                <a:latin typeface="Aptos"/>
              </a:defRPr>
            </a:pPr>
            <a:r>
              <a:t>•  Hybrid retrieval layer: BM25 + Sentence-Transformers with metadata relaxation</a:t>
            </a:r>
          </a:p>
          <a:p>
            <a:pPr>
              <a:spcAft>
                <a:spcPts val="1800"/>
              </a:spcAft>
              <a:defRPr sz="1800">
                <a:solidFill>
                  <a:srgbClr val="EFF6FF"/>
                </a:solidFill>
                <a:latin typeface="Aptos"/>
              </a:defRPr>
            </a:pPr>
            <a:r>
              <a:t>•  Agentic layer: ML regressors, root-cause reasoning, RAG synthesis and judging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46520" y="1874519"/>
            <a:ext cx="5074920" cy="4160520"/>
          </a:xfrm>
          <a:prstGeom prst="roundRect">
            <a:avLst/>
          </a:prstGeom>
          <a:solidFill>
            <a:srgbClr val="101D33"/>
          </a:solidFill>
          <a:ln w="10160">
            <a:solidFill>
              <a:srgbClr val="2A3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903720" y="2267712"/>
            <a:ext cx="4160520" cy="530352"/>
          </a:xfrm>
          <a:prstGeom prst="roundRect">
            <a:avLst/>
          </a:prstGeom>
          <a:solidFill>
            <a:srgbClr val="152741"/>
          </a:solidFill>
          <a:ln w="10160">
            <a:solidFill>
              <a:srgbClr val="2AD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059168" y="2377440"/>
            <a:ext cx="105156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1">
                <a:solidFill>
                  <a:srgbClr val="2AD6E6"/>
                </a:solidFill>
                <a:latin typeface="Aptos"/>
              </a:defRPr>
            </a:pPr>
            <a:r>
              <a:t>CLIENT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83879" y="2377440"/>
            <a:ext cx="2697480" cy="25603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100" b="0">
                <a:solidFill>
                  <a:srgbClr val="EFF6FF"/>
                </a:solidFill>
                <a:latin typeface="Aptos"/>
              </a:defRPr>
            </a:pPr>
            <a:r>
              <a:t>Streamlit command center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03720" y="2999232"/>
            <a:ext cx="4160520" cy="530352"/>
          </a:xfrm>
          <a:prstGeom prst="roundRect">
            <a:avLst/>
          </a:prstGeom>
          <a:solidFill>
            <a:srgbClr val="152741"/>
          </a:solidFill>
          <a:ln w="10160">
            <a:solidFill>
              <a:srgbClr val="4D8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059168" y="3108960"/>
            <a:ext cx="105156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1">
                <a:solidFill>
                  <a:srgbClr val="4D82FF"/>
                </a:solidFill>
                <a:latin typeface="Aptos"/>
              </a:defRPr>
            </a:pPr>
            <a:r>
              <a:t>SERVICE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79" y="3108960"/>
            <a:ext cx="2697480" cy="25603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100" b="0">
                <a:solidFill>
                  <a:srgbClr val="EFF6FF"/>
                </a:solidFill>
                <a:latin typeface="Aptos"/>
              </a:defRPr>
            </a:pPr>
            <a:r>
              <a:t>FastAPI endpoints &amp; orchestration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03720" y="3730752"/>
            <a:ext cx="4160520" cy="530352"/>
          </a:xfrm>
          <a:prstGeom prst="roundRect">
            <a:avLst/>
          </a:prstGeom>
          <a:solidFill>
            <a:srgbClr val="152741"/>
          </a:solidFill>
          <a:ln w="10160">
            <a:solidFill>
              <a:srgbClr val="9D7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059168" y="3840480"/>
            <a:ext cx="105156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1">
                <a:solidFill>
                  <a:srgbClr val="9D74FF"/>
                </a:solidFill>
                <a:latin typeface="Aptos"/>
              </a:defRPr>
            </a:pPr>
            <a:r>
              <a:t>RETRIEVAL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879" y="3840480"/>
            <a:ext cx="2697480" cy="25603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100" b="0">
                <a:solidFill>
                  <a:srgbClr val="EFF6FF"/>
                </a:solidFill>
                <a:latin typeface="Aptos"/>
              </a:defRPr>
            </a:pPr>
            <a:r>
              <a:t>BM25 • embeddings • metadata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03720" y="4462272"/>
            <a:ext cx="4160520" cy="530352"/>
          </a:xfrm>
          <a:prstGeom prst="roundRect">
            <a:avLst/>
          </a:prstGeom>
          <a:solidFill>
            <a:srgbClr val="152741"/>
          </a:solidFill>
          <a:ln w="10160">
            <a:solidFill>
              <a:srgbClr val="47DC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059168" y="4572000"/>
            <a:ext cx="105156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1">
                <a:solidFill>
                  <a:srgbClr val="47DCA5"/>
                </a:solidFill>
                <a:latin typeface="Aptos"/>
              </a:defRPr>
            </a:pPr>
            <a:r>
              <a:t>AGENTIC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83879" y="4572000"/>
            <a:ext cx="2697480" cy="25603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100" b="0">
                <a:solidFill>
                  <a:srgbClr val="EFF6FF"/>
                </a:solidFill>
                <a:latin typeface="Aptos"/>
              </a:defRPr>
            </a:pPr>
            <a:r>
              <a:t>ML estimates • diagnosis • RAG • judge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6600" y="5349240"/>
            <a:ext cx="384048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1">
                <a:solidFill>
                  <a:srgbClr val="FFBE4B"/>
                </a:solidFill>
                <a:latin typeface="Aptos"/>
              </a:defRPr>
            </a:pPr>
            <a:r>
              <a:t>Cross-cutting: security, ontology &amp; evidence controls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6510528"/>
            <a:ext cx="6858000" cy="1828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900" b="1">
                <a:solidFill>
                  <a:srgbClr val="9FB1CA"/>
                </a:solidFill>
                <a:latin typeface="Aptos"/>
              </a:defRPr>
            </a:pPr>
            <a:r>
              <a:t>TELECOM NETOPS AI ASSISTANT  /  CAPSTONE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52760" y="6473952"/>
            <a:ext cx="822960" cy="190821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r">
              <a:defRPr sz="1000" b="1">
                <a:solidFill>
                  <a:srgbClr val="2AD6E6"/>
                </a:solidFill>
                <a:latin typeface="Aptos"/>
              </a:defRPr>
            </a:pPr>
            <a:r>
              <a:rPr lang="en-IN" dirty="0"/>
              <a:t>4</a:t>
            </a:r>
            <a:endParaRPr dirty="0"/>
          </a:p>
        </p:txBody>
      </p:sp>
      <p:sp>
        <p:nvSpPr>
          <p:cNvPr id="24" name="Rectangle 23"/>
          <p:cNvSpPr/>
          <p:nvPr/>
        </p:nvSpPr>
        <p:spPr>
          <a:xfrm>
            <a:off x="658368" y="6382512"/>
            <a:ext cx="10881360" cy="10972"/>
          </a:xfrm>
          <a:prstGeom prst="rect">
            <a:avLst/>
          </a:prstGeom>
          <a:solidFill>
            <a:srgbClr val="2A3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692640" y="-914400"/>
            <a:ext cx="3931920" cy="3931920"/>
          </a:xfrm>
          <a:prstGeom prst="ellipse">
            <a:avLst/>
          </a:prstGeom>
          <a:solidFill>
            <a:srgbClr val="0E2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2011680" cy="190821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1">
                <a:solidFill>
                  <a:srgbClr val="2AD6E6"/>
                </a:solidFill>
                <a:latin typeface="Aptos"/>
              </a:defRPr>
            </a:pPr>
            <a:r>
              <a:rPr dirty="0"/>
              <a:t>SLIDE </a:t>
            </a:r>
            <a:r>
              <a:rPr lang="en-IN" dirty="0"/>
              <a:t> 5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515600" cy="56692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3000" b="1">
                <a:solidFill>
                  <a:srgbClr val="EFF6FF"/>
                </a:solidFill>
                <a:latin typeface="Aptos"/>
              </a:defRPr>
            </a:pPr>
            <a:r>
              <a:t>Data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298448"/>
            <a:ext cx="10515600" cy="34747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500" b="0">
                <a:solidFill>
                  <a:srgbClr val="9FB1CA"/>
                </a:solidFill>
                <a:latin typeface="Aptos"/>
              </a:defRPr>
            </a:pPr>
            <a:r>
              <a:t>Every answer follows a traceable path from query to verification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746504"/>
            <a:ext cx="658368" cy="41148"/>
          </a:xfrm>
          <a:prstGeom prst="rect">
            <a:avLst/>
          </a:prstGeom>
          <a:solidFill>
            <a:srgbClr val="2AD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1993392"/>
            <a:ext cx="5486400" cy="4069080"/>
          </a:xfrm>
          <a:prstGeom prst="rect">
            <a:avLst/>
          </a:prstGeom>
          <a:noFill/>
        </p:spPr>
        <p:txBody>
          <a:bodyPr wrap="square" lIns="27432" tIns="18288" rIns="54864" bIns="18288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EFF6FF"/>
                </a:solidFill>
                <a:latin typeface="Aptos"/>
              </a:defRPr>
            </a:pPr>
            <a:r>
              <a:t>•  1. Validate domain and block prompt injection or out-of-scope requests</a:t>
            </a:r>
          </a:p>
          <a:p>
            <a:pPr>
              <a:spcAft>
                <a:spcPts val="1800"/>
              </a:spcAft>
              <a:defRPr sz="1800">
                <a:solidFill>
                  <a:srgbClr val="EFF6FF"/>
                </a:solidFill>
                <a:latin typeface="Aptos"/>
              </a:defRPr>
            </a:pPr>
            <a:r>
              <a:t>•  2. Parse intent and filters; relax State, City, Season or Weather when needed</a:t>
            </a:r>
          </a:p>
          <a:p>
            <a:pPr>
              <a:spcAft>
                <a:spcPts val="1800"/>
              </a:spcAft>
              <a:defRPr sz="1800">
                <a:solidFill>
                  <a:srgbClr val="EFF6FF"/>
                </a:solidFill>
                <a:latin typeface="Aptos"/>
              </a:defRPr>
            </a:pPr>
            <a:r>
              <a:t>•  3. Retrieve and rank incidents using BM25 + dense embeddings</a:t>
            </a:r>
          </a:p>
          <a:p>
            <a:pPr>
              <a:spcAft>
                <a:spcPts val="1800"/>
              </a:spcAft>
              <a:defRPr sz="1800">
                <a:solidFill>
                  <a:srgbClr val="EFF6FF"/>
                </a:solidFill>
                <a:latin typeface="Aptos"/>
              </a:defRPr>
            </a:pPr>
            <a:r>
              <a:t>•  4. Run agent analysis, synthesize with citations, then verify with the judge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46520" y="1874519"/>
            <a:ext cx="5074920" cy="4160520"/>
          </a:xfrm>
          <a:prstGeom prst="roundRect">
            <a:avLst/>
          </a:prstGeom>
          <a:solidFill>
            <a:srgbClr val="101D33"/>
          </a:solidFill>
          <a:ln w="10160">
            <a:solidFill>
              <a:srgbClr val="2A3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766560" y="2331720"/>
            <a:ext cx="1280160" cy="841248"/>
          </a:xfrm>
          <a:prstGeom prst="roundRect">
            <a:avLst/>
          </a:prstGeom>
          <a:solidFill>
            <a:srgbClr val="152741"/>
          </a:solidFill>
          <a:ln w="10160">
            <a:solidFill>
              <a:srgbClr val="FF67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39712" y="2404872"/>
            <a:ext cx="256032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200" b="1">
                <a:solidFill>
                  <a:srgbClr val="FF677A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95744" y="2423160"/>
            <a:ext cx="868680" cy="457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000" b="1">
                <a:solidFill>
                  <a:srgbClr val="EFF6FF"/>
                </a:solidFill>
                <a:latin typeface="Aptos"/>
              </a:defRPr>
            </a:pPr>
            <a:r>
              <a:t>Validate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58200" y="2331720"/>
            <a:ext cx="1280160" cy="841248"/>
          </a:xfrm>
          <a:prstGeom prst="roundRect">
            <a:avLst/>
          </a:prstGeom>
          <a:solidFill>
            <a:srgbClr val="152741"/>
          </a:solidFill>
          <a:ln w="10160">
            <a:solidFill>
              <a:srgbClr val="2AD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531352" y="2404872"/>
            <a:ext cx="256032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200" b="1">
                <a:solidFill>
                  <a:srgbClr val="2AD6E6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87384" y="2423160"/>
            <a:ext cx="868680" cy="457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000" b="1">
                <a:solidFill>
                  <a:srgbClr val="EFF6FF"/>
                </a:solidFill>
                <a:latin typeface="Aptos"/>
              </a:defRPr>
            </a:pPr>
            <a:r>
              <a:t>Parse filters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104120" y="2331720"/>
            <a:ext cx="1280160" cy="841248"/>
          </a:xfrm>
          <a:prstGeom prst="roundRect">
            <a:avLst/>
          </a:prstGeom>
          <a:solidFill>
            <a:srgbClr val="152741"/>
          </a:solidFill>
          <a:ln w="10160">
            <a:solidFill>
              <a:srgbClr val="4D8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177272" y="2404872"/>
            <a:ext cx="256032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200" b="1">
                <a:solidFill>
                  <a:srgbClr val="4D82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33304" y="2423160"/>
            <a:ext cx="868680" cy="457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000" b="1">
                <a:solidFill>
                  <a:srgbClr val="EFF6FF"/>
                </a:solidFill>
                <a:latin typeface="Aptos"/>
              </a:defRPr>
            </a:pPr>
            <a:r>
              <a:t>Hybrid search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104120" y="3886200"/>
            <a:ext cx="1280160" cy="841248"/>
          </a:xfrm>
          <a:prstGeom prst="roundRect">
            <a:avLst/>
          </a:prstGeom>
          <a:solidFill>
            <a:srgbClr val="152741"/>
          </a:solidFill>
          <a:ln w="10160">
            <a:solidFill>
              <a:srgbClr val="9D7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177272" y="3959352"/>
            <a:ext cx="256032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200" b="1">
                <a:solidFill>
                  <a:srgbClr val="9D74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33304" y="3977639"/>
            <a:ext cx="868680" cy="457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000" b="1">
                <a:solidFill>
                  <a:srgbClr val="EFF6FF"/>
                </a:solidFill>
                <a:latin typeface="Aptos"/>
              </a:defRPr>
            </a:pPr>
            <a:r>
              <a:t>Agent analysis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458200" y="3886200"/>
            <a:ext cx="1280160" cy="841248"/>
          </a:xfrm>
          <a:prstGeom prst="roundRect">
            <a:avLst/>
          </a:prstGeom>
          <a:solidFill>
            <a:srgbClr val="152741"/>
          </a:solidFill>
          <a:ln w="10160">
            <a:solidFill>
              <a:srgbClr val="47DC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531352" y="3959352"/>
            <a:ext cx="256032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200" b="1">
                <a:solidFill>
                  <a:srgbClr val="47DCA5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87384" y="3977639"/>
            <a:ext cx="868680" cy="457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000" b="1">
                <a:solidFill>
                  <a:srgbClr val="EFF6FF"/>
                </a:solidFill>
                <a:latin typeface="Aptos"/>
              </a:defRPr>
            </a:pPr>
            <a:r>
              <a:t>Synthesize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766560" y="3886200"/>
            <a:ext cx="1280160" cy="841248"/>
          </a:xfrm>
          <a:prstGeom prst="roundRect">
            <a:avLst/>
          </a:prstGeom>
          <a:solidFill>
            <a:srgbClr val="152741"/>
          </a:solidFill>
          <a:ln w="10160">
            <a:solidFill>
              <a:srgbClr val="FFBE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839712" y="3959352"/>
            <a:ext cx="256032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200" b="1">
                <a:solidFill>
                  <a:srgbClr val="FFBE4B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95744" y="3977639"/>
            <a:ext cx="868680" cy="457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000" b="1">
                <a:solidFill>
                  <a:srgbClr val="EFF6FF"/>
                </a:solidFill>
                <a:latin typeface="Aptos"/>
              </a:defRPr>
            </a:pPr>
            <a:r>
              <a:t>Judge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065008" y="2743200"/>
            <a:ext cx="347472" cy="0"/>
          </a:xfrm>
          <a:prstGeom prst="line">
            <a:avLst/>
          </a:prstGeom>
          <a:ln w="19050">
            <a:solidFill>
              <a:srgbClr val="2AD6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9747504" y="2743200"/>
            <a:ext cx="310896" cy="0"/>
          </a:xfrm>
          <a:prstGeom prst="line">
            <a:avLst/>
          </a:prstGeom>
          <a:ln w="19050">
            <a:solidFill>
              <a:srgbClr val="2AD6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0744200" y="3200400"/>
            <a:ext cx="0" cy="621791"/>
          </a:xfrm>
          <a:prstGeom prst="line">
            <a:avLst/>
          </a:prstGeom>
          <a:ln w="19050">
            <a:solidFill>
              <a:srgbClr val="9D7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>
            <a:off x="9765792" y="4315968"/>
            <a:ext cx="292608" cy="0"/>
          </a:xfrm>
          <a:prstGeom prst="line">
            <a:avLst/>
          </a:prstGeom>
          <a:ln w="19050">
            <a:solidFill>
              <a:srgbClr val="47DC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>
            <a:off x="8092440" y="4315968"/>
            <a:ext cx="320040" cy="0"/>
          </a:xfrm>
          <a:prstGeom prst="line">
            <a:avLst/>
          </a:prstGeom>
          <a:ln w="19050">
            <a:solidFill>
              <a:srgbClr val="FFB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903720" y="5212080"/>
            <a:ext cx="434340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100" b="1">
                <a:solidFill>
                  <a:srgbClr val="2AD6E6"/>
                </a:solidFill>
                <a:latin typeface="Aptos"/>
              </a:defRPr>
            </a:pPr>
            <a:r>
              <a:t>Only verified, evidence-linked output is returned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510528"/>
            <a:ext cx="6858000" cy="1828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900" b="1">
                <a:solidFill>
                  <a:srgbClr val="9FB1CA"/>
                </a:solidFill>
                <a:latin typeface="Aptos"/>
              </a:defRPr>
            </a:pPr>
            <a:r>
              <a:t>TELECOM NETOPS AI ASSISTANT  /  CAPSTONE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52760" y="6473952"/>
            <a:ext cx="822960" cy="190821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r">
              <a:defRPr sz="1000" b="1">
                <a:solidFill>
                  <a:srgbClr val="2AD6E6"/>
                </a:solidFill>
                <a:latin typeface="Aptos"/>
              </a:defRPr>
            </a:pPr>
            <a:r>
              <a:rPr lang="en-IN" dirty="0"/>
              <a:t>5</a:t>
            </a:r>
            <a:endParaRPr dirty="0"/>
          </a:p>
        </p:txBody>
      </p:sp>
      <p:sp>
        <p:nvSpPr>
          <p:cNvPr id="35" name="Rectangle 34"/>
          <p:cNvSpPr/>
          <p:nvPr/>
        </p:nvSpPr>
        <p:spPr>
          <a:xfrm>
            <a:off x="658368" y="6382512"/>
            <a:ext cx="10881360" cy="10972"/>
          </a:xfrm>
          <a:prstGeom prst="rect">
            <a:avLst/>
          </a:prstGeom>
          <a:solidFill>
            <a:srgbClr val="2A3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692640" y="-914400"/>
            <a:ext cx="3931920" cy="3931920"/>
          </a:xfrm>
          <a:prstGeom prst="ellipse">
            <a:avLst/>
          </a:prstGeom>
          <a:solidFill>
            <a:srgbClr val="0E2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2011680" cy="190821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1">
                <a:solidFill>
                  <a:srgbClr val="2AD6E6"/>
                </a:solidFill>
                <a:latin typeface="Aptos"/>
              </a:defRPr>
            </a:pPr>
            <a:r>
              <a:rPr dirty="0"/>
              <a:t>SLIDE </a:t>
            </a:r>
            <a:r>
              <a:rPr lang="en-IN" dirty="0"/>
              <a:t> 6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515600" cy="56692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3000" b="1">
                <a:solidFill>
                  <a:srgbClr val="EFF6FF"/>
                </a:solidFill>
                <a:latin typeface="Aptos"/>
              </a:defRPr>
            </a:pPr>
            <a:r>
              <a:t>Technology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298448"/>
            <a:ext cx="10515600" cy="34747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500" b="0">
                <a:solidFill>
                  <a:srgbClr val="9FB1CA"/>
                </a:solidFill>
                <a:latin typeface="Aptos"/>
              </a:defRPr>
            </a:pPr>
            <a:r>
              <a:t>Practical components for an observable, testable NetOps assistant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746504"/>
            <a:ext cx="658368" cy="41148"/>
          </a:xfrm>
          <a:prstGeom prst="rect">
            <a:avLst/>
          </a:prstGeom>
          <a:solidFill>
            <a:srgbClr val="2AD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1993392"/>
            <a:ext cx="5486400" cy="4069080"/>
          </a:xfrm>
          <a:prstGeom prst="rect">
            <a:avLst/>
          </a:prstGeom>
          <a:noFill/>
        </p:spPr>
        <p:txBody>
          <a:bodyPr wrap="square" lIns="27432" tIns="18288" rIns="54864" bIns="18288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EFF6FF"/>
                </a:solidFill>
                <a:latin typeface="Aptos"/>
              </a:defRPr>
            </a:pPr>
            <a:r>
              <a:t>•  Backend: Python 3.13, FastAPI and typed request/response contracts</a:t>
            </a:r>
          </a:p>
          <a:p>
            <a:pPr>
              <a:spcAft>
                <a:spcPts val="1800"/>
              </a:spcAft>
              <a:defRPr sz="1800">
                <a:solidFill>
                  <a:srgbClr val="EFF6FF"/>
                </a:solidFill>
                <a:latin typeface="Aptos"/>
              </a:defRPr>
            </a:pPr>
            <a:r>
              <a:t>•  Frontend: Streamlit enterprise dark glassmorphic command center</a:t>
            </a:r>
          </a:p>
          <a:p>
            <a:pPr>
              <a:spcAft>
                <a:spcPts val="1800"/>
              </a:spcAft>
              <a:defRPr sz="1800">
                <a:solidFill>
                  <a:srgbClr val="EFF6FF"/>
                </a:solidFill>
                <a:latin typeface="Aptos"/>
              </a:defRPr>
            </a:pPr>
            <a:r>
              <a:t>•  ML &amp; retrieval: Scikit-learn, Sentence-Transformers, Rank-BM25 and metadata filters</a:t>
            </a:r>
          </a:p>
          <a:p>
            <a:pPr>
              <a:spcAft>
                <a:spcPts val="1800"/>
              </a:spcAft>
              <a:defRPr sz="1800">
                <a:solidFill>
                  <a:srgbClr val="EFF6FF"/>
                </a:solidFill>
                <a:latin typeface="Aptos"/>
              </a:defRPr>
            </a:pPr>
            <a:r>
              <a:t>•  GenAI &amp; quality: Anthropic/OpenAI APIs, Pytest, RAGAS and DeepEval harness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46520" y="1874519"/>
            <a:ext cx="5074920" cy="4160520"/>
          </a:xfrm>
          <a:prstGeom prst="roundRect">
            <a:avLst/>
          </a:prstGeom>
          <a:solidFill>
            <a:srgbClr val="101D33"/>
          </a:solidFill>
          <a:ln w="10160">
            <a:solidFill>
              <a:srgbClr val="2A3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629400" y="2423160"/>
            <a:ext cx="841248" cy="2331720"/>
          </a:xfrm>
          <a:prstGeom prst="roundRect">
            <a:avLst/>
          </a:prstGeom>
          <a:solidFill>
            <a:srgbClr val="152741"/>
          </a:solidFill>
          <a:ln w="10160">
            <a:solidFill>
              <a:srgbClr val="2AD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65976" y="2606040"/>
            <a:ext cx="768096" cy="43891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800" b="1">
                <a:solidFill>
                  <a:srgbClr val="2AD6E6"/>
                </a:solidFill>
                <a:latin typeface="Aptos"/>
              </a:defRPr>
            </a:pPr>
            <a:r>
              <a:t>BACKEND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84264" y="3246120"/>
            <a:ext cx="731520" cy="11430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900" b="0">
                <a:solidFill>
                  <a:srgbClr val="EFF6FF"/>
                </a:solidFill>
                <a:latin typeface="Aptos"/>
              </a:defRPr>
            </a:pPr>
            <a:r>
              <a:t>Python 3.13</a:t>
            </a:r>
            <a:br/>
            <a:r>
              <a:t>FastAPI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71231" y="2423160"/>
            <a:ext cx="841248" cy="2331720"/>
          </a:xfrm>
          <a:prstGeom prst="roundRect">
            <a:avLst/>
          </a:prstGeom>
          <a:solidFill>
            <a:srgbClr val="152741"/>
          </a:solidFill>
          <a:ln w="10160">
            <a:solidFill>
              <a:srgbClr val="4D8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607807" y="2606040"/>
            <a:ext cx="768096" cy="43891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800" b="1">
                <a:solidFill>
                  <a:srgbClr val="4D82FF"/>
                </a:solidFill>
                <a:latin typeface="Aptos"/>
              </a:defRPr>
            </a:pPr>
            <a:r>
              <a:t>FRONTEND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6096" y="3246120"/>
            <a:ext cx="731520" cy="11430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900" b="0">
                <a:solidFill>
                  <a:srgbClr val="EFF6FF"/>
                </a:solidFill>
                <a:latin typeface="Aptos"/>
              </a:defRPr>
            </a:pPr>
            <a:r>
              <a:t>Streamlit</a:t>
            </a:r>
            <a:br/>
            <a:r>
              <a:t>Dark UI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13064" y="2423160"/>
            <a:ext cx="841248" cy="2331720"/>
          </a:xfrm>
          <a:prstGeom prst="roundRect">
            <a:avLst/>
          </a:prstGeom>
          <a:solidFill>
            <a:srgbClr val="152741"/>
          </a:solidFill>
          <a:ln w="10160">
            <a:solidFill>
              <a:srgbClr val="9D7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549640" y="2606040"/>
            <a:ext cx="768096" cy="43891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800" b="1">
                <a:solidFill>
                  <a:srgbClr val="9D74FF"/>
                </a:solidFill>
                <a:latin typeface="Aptos"/>
              </a:defRPr>
            </a:pPr>
            <a:r>
              <a:t>ML / RETRIEVAL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67928" y="3246120"/>
            <a:ext cx="731520" cy="11430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900" b="0">
                <a:solidFill>
                  <a:srgbClr val="EFF6FF"/>
                </a:solidFill>
                <a:latin typeface="Aptos"/>
              </a:defRPr>
            </a:pPr>
            <a:r>
              <a:t>Scikit-learn</a:t>
            </a:r>
            <a:br/>
            <a:r>
              <a:t>SentenceTransformers</a:t>
            </a:r>
            <a:br/>
            <a:r>
              <a:t>Rank-BM25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54896" y="2423160"/>
            <a:ext cx="841248" cy="2331720"/>
          </a:xfrm>
          <a:prstGeom prst="roundRect">
            <a:avLst/>
          </a:prstGeom>
          <a:solidFill>
            <a:srgbClr val="152741"/>
          </a:solidFill>
          <a:ln w="10160">
            <a:solidFill>
              <a:srgbClr val="47DC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491472" y="2606040"/>
            <a:ext cx="768096" cy="43891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800" b="1">
                <a:solidFill>
                  <a:srgbClr val="47DCA5"/>
                </a:solidFill>
                <a:latin typeface="Aptos"/>
              </a:defRPr>
            </a:pPr>
            <a:r>
              <a:t>GENAI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09760" y="3246120"/>
            <a:ext cx="731520" cy="11430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900" b="0">
                <a:solidFill>
                  <a:srgbClr val="EFF6FF"/>
                </a:solidFill>
                <a:latin typeface="Aptos"/>
              </a:defRPr>
            </a:pPr>
            <a:r>
              <a:t>Anthropic</a:t>
            </a:r>
            <a:br/>
            <a:r>
              <a:t>OpenAI APIs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396728" y="2423160"/>
            <a:ext cx="841248" cy="2331720"/>
          </a:xfrm>
          <a:prstGeom prst="roundRect">
            <a:avLst/>
          </a:prstGeom>
          <a:solidFill>
            <a:srgbClr val="152741"/>
          </a:solidFill>
          <a:ln w="10160">
            <a:solidFill>
              <a:srgbClr val="FFBE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433304" y="2606040"/>
            <a:ext cx="768096" cy="43891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800" b="1">
                <a:solidFill>
                  <a:srgbClr val="FFBE4B"/>
                </a:solidFill>
                <a:latin typeface="Aptos"/>
              </a:defRPr>
            </a:pPr>
            <a:r>
              <a:t>EVALUATION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51592" y="3246120"/>
            <a:ext cx="731520" cy="11430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900" b="0">
                <a:solidFill>
                  <a:srgbClr val="EFF6FF"/>
                </a:solidFill>
                <a:latin typeface="Aptos"/>
              </a:defRPr>
            </a:pPr>
            <a:r>
              <a:t>Pytest</a:t>
            </a:r>
            <a:br/>
            <a:r>
              <a:t>RAGAS</a:t>
            </a:r>
            <a:br/>
            <a:r>
              <a:t>DeepEval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5257800"/>
            <a:ext cx="434340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000" b="1">
                <a:solidFill>
                  <a:srgbClr val="9FB1CA"/>
                </a:solidFill>
                <a:latin typeface="Aptos"/>
              </a:defRPr>
            </a:pPr>
            <a:r>
              <a:t>Modular components • testable interfaces • observable outcomes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6510528"/>
            <a:ext cx="6858000" cy="1828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900" b="1">
                <a:solidFill>
                  <a:srgbClr val="9FB1CA"/>
                </a:solidFill>
                <a:latin typeface="Aptos"/>
              </a:defRPr>
            </a:pPr>
            <a:r>
              <a:t>TELECOM NETOPS AI ASSISTANT  /  CAPSTONE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52760" y="6473952"/>
            <a:ext cx="822960" cy="190821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r">
              <a:defRPr sz="1000" b="1">
                <a:solidFill>
                  <a:srgbClr val="2AD6E6"/>
                </a:solidFill>
                <a:latin typeface="Aptos"/>
              </a:defRPr>
            </a:pPr>
            <a:r>
              <a:rPr lang="en-IN" dirty="0"/>
              <a:t>6</a:t>
            </a:r>
            <a:endParaRPr dirty="0"/>
          </a:p>
        </p:txBody>
      </p:sp>
      <p:sp>
        <p:nvSpPr>
          <p:cNvPr id="27" name="Rectangle 26"/>
          <p:cNvSpPr/>
          <p:nvPr/>
        </p:nvSpPr>
        <p:spPr>
          <a:xfrm>
            <a:off x="658368" y="6382512"/>
            <a:ext cx="10881360" cy="10972"/>
          </a:xfrm>
          <a:prstGeom prst="rect">
            <a:avLst/>
          </a:prstGeom>
          <a:solidFill>
            <a:srgbClr val="2A3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692640" y="-914400"/>
            <a:ext cx="3931920" cy="3931920"/>
          </a:xfrm>
          <a:prstGeom prst="ellipse">
            <a:avLst/>
          </a:prstGeom>
          <a:solidFill>
            <a:srgbClr val="0E2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2011680" cy="190821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1">
                <a:solidFill>
                  <a:srgbClr val="2AD6E6"/>
                </a:solidFill>
                <a:latin typeface="Aptos"/>
              </a:defRPr>
            </a:pPr>
            <a:r>
              <a:rPr dirty="0"/>
              <a:t>SLIDE </a:t>
            </a:r>
            <a:r>
              <a:rPr lang="en-IN" dirty="0"/>
              <a:t> 7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515600" cy="56692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3000" b="1">
                <a:solidFill>
                  <a:srgbClr val="EFF6FF"/>
                </a:solidFill>
                <a:latin typeface="Aptos"/>
              </a:defRPr>
            </a:pPr>
            <a:r>
              <a:t>Agent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298448"/>
            <a:ext cx="10515600" cy="34747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500" b="0">
                <a:solidFill>
                  <a:srgbClr val="9FB1CA"/>
                </a:solidFill>
                <a:latin typeface="Aptos"/>
              </a:defRPr>
            </a:pPr>
            <a:r>
              <a:t>Nine collaborating roles divide the work into controlled, reviewable steps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746504"/>
            <a:ext cx="658368" cy="41148"/>
          </a:xfrm>
          <a:prstGeom prst="rect">
            <a:avLst/>
          </a:prstGeom>
          <a:solidFill>
            <a:srgbClr val="2AD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1993392"/>
            <a:ext cx="5486400" cy="4069080"/>
          </a:xfrm>
          <a:prstGeom prst="rect">
            <a:avLst/>
          </a:prstGeom>
          <a:noFill/>
        </p:spPr>
        <p:txBody>
          <a:bodyPr wrap="square" lIns="27432" tIns="18288" rIns="54864" bIns="18288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EFF6FF"/>
                </a:solidFill>
                <a:latin typeface="Aptos"/>
              </a:defRPr>
            </a:pPr>
            <a:r>
              <a:t>•  1–3: Domain &amp; Security Guardrails → Incident Classifier → Prioritizer</a:t>
            </a:r>
          </a:p>
          <a:p>
            <a:pPr>
              <a:spcAft>
                <a:spcPts val="1800"/>
              </a:spcAft>
              <a:defRPr sz="1800">
                <a:solidFill>
                  <a:srgbClr val="EFF6FF"/>
                </a:solidFill>
                <a:latin typeface="Aptos"/>
              </a:defRPr>
            </a:pPr>
            <a:r>
              <a:t>•  4–5: RandomForest Performance/Risk Regressors → Root Cause Analyzer</a:t>
            </a:r>
          </a:p>
          <a:p>
            <a:pPr>
              <a:spcAft>
                <a:spcPts val="1800"/>
              </a:spcAft>
              <a:defRPr sz="1800">
                <a:solidFill>
                  <a:srgbClr val="EFF6FF"/>
                </a:solidFill>
                <a:latin typeface="Aptos"/>
              </a:defRPr>
            </a:pPr>
            <a:r>
              <a:t>•  6–7: Network Impact Assessor → Query Trend Verifier</a:t>
            </a:r>
          </a:p>
          <a:p>
            <a:pPr>
              <a:spcAft>
                <a:spcPts val="1800"/>
              </a:spcAft>
              <a:defRPr sz="1800">
                <a:solidFill>
                  <a:srgbClr val="EFF6FF"/>
                </a:solidFill>
                <a:latin typeface="Aptos"/>
              </a:defRPr>
            </a:pPr>
            <a:r>
              <a:t>•  8–9: Claude 3.5 Sonnet / OpenAI RAG Synthesis → LLM-as-Judge Evaluator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46520" y="1874519"/>
            <a:ext cx="5074920" cy="4160520"/>
          </a:xfrm>
          <a:prstGeom prst="roundRect">
            <a:avLst/>
          </a:prstGeom>
          <a:solidFill>
            <a:srgbClr val="101D33"/>
          </a:solidFill>
          <a:ln w="10160">
            <a:solidFill>
              <a:srgbClr val="2A3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748272" y="2194560"/>
            <a:ext cx="1353312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900" b="1">
                <a:solidFill>
                  <a:srgbClr val="2AD6E6"/>
                </a:solidFill>
                <a:latin typeface="Aptos"/>
              </a:defRPr>
            </a:pPr>
            <a:r>
              <a:t>GATE &amp; ROUTE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83879" y="2148840"/>
            <a:ext cx="914400" cy="731520"/>
          </a:xfrm>
          <a:prstGeom prst="roundRect">
            <a:avLst/>
          </a:prstGeom>
          <a:solidFill>
            <a:srgbClr val="152741"/>
          </a:solidFill>
          <a:ln w="10160">
            <a:solidFill>
              <a:srgbClr val="2AD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38744" y="2267712"/>
            <a:ext cx="804672" cy="53035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800" b="1">
                <a:solidFill>
                  <a:srgbClr val="EFF6FF"/>
                </a:solidFill>
                <a:latin typeface="Aptos"/>
              </a:defRPr>
            </a:pPr>
            <a:r>
              <a:t>1 Guardrails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71432" y="2148840"/>
            <a:ext cx="914400" cy="731520"/>
          </a:xfrm>
          <a:prstGeom prst="roundRect">
            <a:avLst/>
          </a:prstGeom>
          <a:solidFill>
            <a:srgbClr val="152741"/>
          </a:solidFill>
          <a:ln w="10160">
            <a:solidFill>
              <a:srgbClr val="2AD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226296" y="2267712"/>
            <a:ext cx="804672" cy="53035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800" b="1">
                <a:solidFill>
                  <a:srgbClr val="EFF6FF"/>
                </a:solidFill>
                <a:latin typeface="Aptos"/>
              </a:defRPr>
            </a:pPr>
            <a:r>
              <a:t>2 Classifier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158984" y="2148840"/>
            <a:ext cx="914400" cy="731520"/>
          </a:xfrm>
          <a:prstGeom prst="roundRect">
            <a:avLst/>
          </a:prstGeom>
          <a:solidFill>
            <a:srgbClr val="152741"/>
          </a:solidFill>
          <a:ln w="10160">
            <a:solidFill>
              <a:srgbClr val="2AD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213848" y="2267712"/>
            <a:ext cx="804672" cy="53035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800" b="1">
                <a:solidFill>
                  <a:srgbClr val="EFF6FF"/>
                </a:solidFill>
                <a:latin typeface="Aptos"/>
              </a:defRPr>
            </a:pPr>
            <a:r>
              <a:t>3 Prioritizer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1201400" y="2542032"/>
            <a:ext cx="0" cy="621792"/>
          </a:xfrm>
          <a:prstGeom prst="line">
            <a:avLst/>
          </a:prstGeom>
          <a:ln w="16510">
            <a:solidFill>
              <a:srgbClr val="2AD6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748272" y="3310128"/>
            <a:ext cx="1353312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900" b="1">
                <a:solidFill>
                  <a:srgbClr val="4D82FF"/>
                </a:solidFill>
                <a:latin typeface="Aptos"/>
              </a:defRPr>
            </a:pPr>
            <a:r>
              <a:t>PREDICT &amp; EXPLAIN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83879" y="3264408"/>
            <a:ext cx="914400" cy="731520"/>
          </a:xfrm>
          <a:prstGeom prst="roundRect">
            <a:avLst/>
          </a:prstGeom>
          <a:solidFill>
            <a:srgbClr val="152741"/>
          </a:solidFill>
          <a:ln w="10160">
            <a:solidFill>
              <a:srgbClr val="4D8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38744" y="3383280"/>
            <a:ext cx="804672" cy="53035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800" b="1">
                <a:solidFill>
                  <a:srgbClr val="EFF6FF"/>
                </a:solidFill>
                <a:latin typeface="Aptos"/>
              </a:defRPr>
            </a:pPr>
            <a:r>
              <a:t>4 RF performance/risk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71432" y="3264408"/>
            <a:ext cx="914400" cy="731520"/>
          </a:xfrm>
          <a:prstGeom prst="roundRect">
            <a:avLst/>
          </a:prstGeom>
          <a:solidFill>
            <a:srgbClr val="152741"/>
          </a:solidFill>
          <a:ln w="10160">
            <a:solidFill>
              <a:srgbClr val="4D8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226296" y="3383280"/>
            <a:ext cx="804672" cy="53035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800" b="1">
                <a:solidFill>
                  <a:srgbClr val="EFF6FF"/>
                </a:solidFill>
                <a:latin typeface="Aptos"/>
              </a:defRPr>
            </a:pPr>
            <a:r>
              <a:t>5 Root cause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158984" y="3264408"/>
            <a:ext cx="914400" cy="731520"/>
          </a:xfrm>
          <a:prstGeom prst="roundRect">
            <a:avLst/>
          </a:prstGeom>
          <a:solidFill>
            <a:srgbClr val="152741"/>
          </a:solidFill>
          <a:ln w="10160">
            <a:solidFill>
              <a:srgbClr val="4D8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213848" y="3383280"/>
            <a:ext cx="804672" cy="53035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800" b="1">
                <a:solidFill>
                  <a:srgbClr val="EFF6FF"/>
                </a:solidFill>
                <a:latin typeface="Aptos"/>
              </a:defRPr>
            </a:pPr>
            <a:r>
              <a:t>6 Network impact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1201400" y="3657600"/>
            <a:ext cx="0" cy="621792"/>
          </a:xfrm>
          <a:prstGeom prst="line">
            <a:avLst/>
          </a:prstGeom>
          <a:ln w="16510">
            <a:solidFill>
              <a:srgbClr val="4D8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748272" y="4425696"/>
            <a:ext cx="1353312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900" b="1">
                <a:solidFill>
                  <a:srgbClr val="9D74FF"/>
                </a:solidFill>
                <a:latin typeface="Aptos"/>
              </a:defRPr>
            </a:pPr>
            <a:r>
              <a:t>VERIFY &amp; SYNTHESIZE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83879" y="4379976"/>
            <a:ext cx="914400" cy="731520"/>
          </a:xfrm>
          <a:prstGeom prst="roundRect">
            <a:avLst/>
          </a:prstGeom>
          <a:solidFill>
            <a:srgbClr val="152741"/>
          </a:solidFill>
          <a:ln w="10160">
            <a:solidFill>
              <a:srgbClr val="9D7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38744" y="4498848"/>
            <a:ext cx="804672" cy="53035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800" b="1">
                <a:solidFill>
                  <a:srgbClr val="EFF6FF"/>
                </a:solidFill>
                <a:latin typeface="Aptos"/>
              </a:defRPr>
            </a:pPr>
            <a:r>
              <a:t>7 Trend verifier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71432" y="4379976"/>
            <a:ext cx="914400" cy="731520"/>
          </a:xfrm>
          <a:prstGeom prst="roundRect">
            <a:avLst/>
          </a:prstGeom>
          <a:solidFill>
            <a:srgbClr val="152741"/>
          </a:solidFill>
          <a:ln w="10160">
            <a:solidFill>
              <a:srgbClr val="9D7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226296" y="4498848"/>
            <a:ext cx="804672" cy="53035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800" b="1">
                <a:solidFill>
                  <a:srgbClr val="EFF6FF"/>
                </a:solidFill>
                <a:latin typeface="Aptos"/>
              </a:defRPr>
            </a:pPr>
            <a:r>
              <a:t>8 RAG synthesis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158984" y="4379976"/>
            <a:ext cx="914400" cy="731520"/>
          </a:xfrm>
          <a:prstGeom prst="roundRect">
            <a:avLst/>
          </a:prstGeom>
          <a:solidFill>
            <a:srgbClr val="152741"/>
          </a:solidFill>
          <a:ln w="10160">
            <a:solidFill>
              <a:srgbClr val="9D7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213848" y="4498848"/>
            <a:ext cx="804672" cy="53035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800" b="1">
                <a:solidFill>
                  <a:srgbClr val="EFF6FF"/>
                </a:solidFill>
                <a:latin typeface="Aptos"/>
              </a:defRPr>
            </a:pPr>
            <a:r>
              <a:t>9 LLM judge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12280" y="5623560"/>
            <a:ext cx="4434840" cy="20116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000" b="1">
                <a:solidFill>
                  <a:srgbClr val="9FB1CA"/>
                </a:solidFill>
                <a:latin typeface="Aptos"/>
              </a:defRPr>
            </a:pPr>
            <a:r>
              <a:t>Distinct roles • shared evidence • controlled handoffs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510528"/>
            <a:ext cx="6858000" cy="1828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900" b="1">
                <a:solidFill>
                  <a:srgbClr val="9FB1CA"/>
                </a:solidFill>
                <a:latin typeface="Aptos"/>
              </a:defRPr>
            </a:pPr>
            <a:r>
              <a:t>TELECOM NETOPS AI ASSISTANT  /  CAPSTONE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52760" y="6473952"/>
            <a:ext cx="822960" cy="190821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r">
              <a:defRPr sz="1000" b="1">
                <a:solidFill>
                  <a:srgbClr val="2AD6E6"/>
                </a:solidFill>
                <a:latin typeface="Aptos"/>
              </a:defRPr>
            </a:pPr>
            <a:r>
              <a:rPr lang="en-IN" dirty="0"/>
              <a:t>7</a:t>
            </a:r>
            <a:endParaRPr dirty="0"/>
          </a:p>
        </p:txBody>
      </p:sp>
      <p:sp>
        <p:nvSpPr>
          <p:cNvPr id="35" name="Rectangle 34"/>
          <p:cNvSpPr/>
          <p:nvPr/>
        </p:nvSpPr>
        <p:spPr>
          <a:xfrm>
            <a:off x="658368" y="6382512"/>
            <a:ext cx="10881360" cy="10972"/>
          </a:xfrm>
          <a:prstGeom prst="rect">
            <a:avLst/>
          </a:prstGeom>
          <a:solidFill>
            <a:srgbClr val="2A3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692640" y="-914400"/>
            <a:ext cx="3931920" cy="3931920"/>
          </a:xfrm>
          <a:prstGeom prst="ellipse">
            <a:avLst/>
          </a:prstGeom>
          <a:solidFill>
            <a:srgbClr val="0E2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2011680" cy="190821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1">
                <a:solidFill>
                  <a:srgbClr val="2AD6E6"/>
                </a:solidFill>
                <a:latin typeface="Aptos"/>
              </a:defRPr>
            </a:pPr>
            <a:r>
              <a:rPr dirty="0"/>
              <a:t>SLIDE </a:t>
            </a:r>
            <a:r>
              <a:rPr lang="en-IN" dirty="0"/>
              <a:t> 8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515600" cy="56692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3000" b="1">
                <a:solidFill>
                  <a:srgbClr val="EFF6FF"/>
                </a:solidFill>
                <a:latin typeface="Aptos"/>
              </a:defRPr>
            </a:pPr>
            <a:r>
              <a:t>Demo Walkthrough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298448"/>
            <a:ext cx="10515600" cy="34747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500" b="0">
                <a:solidFill>
                  <a:srgbClr val="9FB1CA"/>
                </a:solidFill>
                <a:latin typeface="Aptos"/>
              </a:defRPr>
            </a:pPr>
            <a:r>
              <a:t>Four operator journeys demonstrate both capability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746504"/>
            <a:ext cx="658368" cy="41148"/>
          </a:xfrm>
          <a:prstGeom prst="rect">
            <a:avLst/>
          </a:prstGeom>
          <a:solidFill>
            <a:srgbClr val="2AD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1993392"/>
            <a:ext cx="5486400" cy="4069080"/>
          </a:xfrm>
          <a:prstGeom prst="rect">
            <a:avLst/>
          </a:prstGeom>
          <a:noFill/>
        </p:spPr>
        <p:txBody>
          <a:bodyPr wrap="square" lIns="27432" tIns="18288" rIns="54864" bIns="18288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EFF6FF"/>
                </a:solidFill>
                <a:latin typeface="Aptos"/>
              </a:defRPr>
            </a:pPr>
            <a:r>
              <a:t>•  Incident search: retrieve similar records with ranked evidence and metadata</a:t>
            </a:r>
          </a:p>
          <a:p>
            <a:pPr>
              <a:spcAft>
                <a:spcPts val="1800"/>
              </a:spcAft>
              <a:defRPr sz="1800">
                <a:solidFill>
                  <a:srgbClr val="EFF6FF"/>
                </a:solidFill>
                <a:latin typeface="Aptos"/>
              </a:defRPr>
            </a:pPr>
            <a:r>
              <a:t>•  AI diagnosis: review likely cause, performance/risk signals and network impact</a:t>
            </a:r>
          </a:p>
          <a:p>
            <a:pPr>
              <a:spcAft>
                <a:spcPts val="1800"/>
              </a:spcAft>
              <a:defRPr sz="1800">
                <a:solidFill>
                  <a:srgbClr val="EFF6FF"/>
                </a:solidFill>
                <a:latin typeface="Aptos"/>
              </a:defRPr>
            </a:pPr>
            <a:r>
              <a:t>•  Guardrail rejection: unrelated cooking or sports queries return HTTP 400</a:t>
            </a:r>
          </a:p>
          <a:p>
            <a:pPr>
              <a:spcAft>
                <a:spcPts val="1800"/>
              </a:spcAft>
              <a:defRPr sz="1800">
                <a:solidFill>
                  <a:srgbClr val="EFF6FF"/>
                </a:solidFill>
                <a:latin typeface="Aptos"/>
              </a:defRPr>
            </a:pPr>
            <a:r>
              <a:t>•  Operator feedback: capture usefulness and corrections for iterative review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46520" y="1874519"/>
            <a:ext cx="5074920" cy="4160520"/>
          </a:xfrm>
          <a:prstGeom prst="roundRect">
            <a:avLst/>
          </a:prstGeom>
          <a:solidFill>
            <a:srgbClr val="101D33"/>
          </a:solidFill>
          <a:ln w="10160">
            <a:solidFill>
              <a:srgbClr val="2A3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720840" y="2331720"/>
            <a:ext cx="2103120" cy="1234440"/>
          </a:xfrm>
          <a:prstGeom prst="roundRect">
            <a:avLst/>
          </a:prstGeom>
          <a:solidFill>
            <a:srgbClr val="152741"/>
          </a:solidFill>
          <a:ln w="10160">
            <a:solidFill>
              <a:srgbClr val="2AD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0" y="2468879"/>
            <a:ext cx="41148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1">
                <a:solidFill>
                  <a:srgbClr val="2AD6E6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2834639"/>
            <a:ext cx="1828800" cy="457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100" b="1">
                <a:solidFill>
                  <a:srgbClr val="EFF6FF"/>
                </a:solidFill>
                <a:latin typeface="Aptos"/>
              </a:defRPr>
            </a:pPr>
            <a:r>
              <a:t>INCIDENT SEARCH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922007" y="3264408"/>
            <a:ext cx="1664208" cy="22860"/>
          </a:xfrm>
          <a:prstGeom prst="rect">
            <a:avLst/>
          </a:prstGeom>
          <a:solidFill>
            <a:srgbClr val="2AD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922007" y="3328415"/>
            <a:ext cx="1435608" cy="22860"/>
          </a:xfrm>
          <a:prstGeom prst="rect">
            <a:avLst/>
          </a:prstGeom>
          <a:solidFill>
            <a:srgbClr val="2AD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922007" y="3392424"/>
            <a:ext cx="1207008" cy="22860"/>
          </a:xfrm>
          <a:prstGeom prst="rect">
            <a:avLst/>
          </a:prstGeom>
          <a:solidFill>
            <a:srgbClr val="2AD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9052559" y="2331720"/>
            <a:ext cx="2103120" cy="1234440"/>
          </a:xfrm>
          <a:prstGeom prst="roundRect">
            <a:avLst/>
          </a:prstGeom>
          <a:solidFill>
            <a:srgbClr val="152741"/>
          </a:solidFill>
          <a:ln w="10160">
            <a:solidFill>
              <a:srgbClr val="9D7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89719" y="2468879"/>
            <a:ext cx="41148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1">
                <a:solidFill>
                  <a:srgbClr val="9D74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89719" y="2834639"/>
            <a:ext cx="1828800" cy="457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100" b="1">
                <a:solidFill>
                  <a:srgbClr val="EFF6FF"/>
                </a:solidFill>
                <a:latin typeface="Aptos"/>
              </a:defRPr>
            </a:pPr>
            <a:r>
              <a:t>AI DIAGNOSIS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253728" y="3264408"/>
            <a:ext cx="1664208" cy="22860"/>
          </a:xfrm>
          <a:prstGeom prst="rect">
            <a:avLst/>
          </a:prstGeom>
          <a:solidFill>
            <a:srgbClr val="9D7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253728" y="3328415"/>
            <a:ext cx="1435608" cy="22860"/>
          </a:xfrm>
          <a:prstGeom prst="rect">
            <a:avLst/>
          </a:prstGeom>
          <a:solidFill>
            <a:srgbClr val="9D7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253728" y="3392424"/>
            <a:ext cx="1207008" cy="22860"/>
          </a:xfrm>
          <a:prstGeom prst="rect">
            <a:avLst/>
          </a:prstGeom>
          <a:solidFill>
            <a:srgbClr val="9D7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720840" y="3904487"/>
            <a:ext cx="2103120" cy="1234440"/>
          </a:xfrm>
          <a:prstGeom prst="roundRect">
            <a:avLst/>
          </a:prstGeom>
          <a:solidFill>
            <a:srgbClr val="152741"/>
          </a:solidFill>
          <a:ln w="10160">
            <a:solidFill>
              <a:srgbClr val="FF67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858000" y="4041648"/>
            <a:ext cx="41148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1">
                <a:solidFill>
                  <a:srgbClr val="FF677A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4407407"/>
            <a:ext cx="1828800" cy="457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100" b="1">
                <a:solidFill>
                  <a:srgbClr val="EFF6FF"/>
                </a:solidFill>
                <a:latin typeface="Aptos"/>
              </a:defRPr>
            </a:pPr>
            <a:r>
              <a:t>HTTP 400 GUARDRAIL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922007" y="4837175"/>
            <a:ext cx="1664208" cy="22860"/>
          </a:xfrm>
          <a:prstGeom prst="rect">
            <a:avLst/>
          </a:prstGeom>
          <a:solidFill>
            <a:srgbClr val="FF6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922007" y="4901183"/>
            <a:ext cx="1435608" cy="22860"/>
          </a:xfrm>
          <a:prstGeom prst="rect">
            <a:avLst/>
          </a:prstGeom>
          <a:solidFill>
            <a:srgbClr val="FF6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922007" y="4965191"/>
            <a:ext cx="1207008" cy="22860"/>
          </a:xfrm>
          <a:prstGeom prst="rect">
            <a:avLst/>
          </a:prstGeom>
          <a:solidFill>
            <a:srgbClr val="FF6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9052559" y="3904487"/>
            <a:ext cx="2103120" cy="1234440"/>
          </a:xfrm>
          <a:prstGeom prst="roundRect">
            <a:avLst/>
          </a:prstGeom>
          <a:solidFill>
            <a:srgbClr val="152741"/>
          </a:solidFill>
          <a:ln w="10160">
            <a:solidFill>
              <a:srgbClr val="47DC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189719" y="4041648"/>
            <a:ext cx="41148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1">
                <a:solidFill>
                  <a:srgbClr val="47DCA5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9719" y="4407407"/>
            <a:ext cx="1828800" cy="457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100" b="1">
                <a:solidFill>
                  <a:srgbClr val="EFF6FF"/>
                </a:solidFill>
                <a:latin typeface="Aptos"/>
              </a:defRPr>
            </a:pPr>
            <a:r>
              <a:t>OPERATOR FEEDBACK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253728" y="4837175"/>
            <a:ext cx="1664208" cy="22860"/>
          </a:xfrm>
          <a:prstGeom prst="rect">
            <a:avLst/>
          </a:prstGeom>
          <a:solidFill>
            <a:srgbClr val="47DC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9253728" y="4901183"/>
            <a:ext cx="1435608" cy="22860"/>
          </a:xfrm>
          <a:prstGeom prst="rect">
            <a:avLst/>
          </a:prstGeom>
          <a:solidFill>
            <a:srgbClr val="47DC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253728" y="4965191"/>
            <a:ext cx="1207008" cy="22860"/>
          </a:xfrm>
          <a:prstGeom prst="rect">
            <a:avLst/>
          </a:prstGeom>
          <a:solidFill>
            <a:srgbClr val="47DC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858000" y="5532120"/>
            <a:ext cx="425196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900" b="0">
                <a:solidFill>
                  <a:srgbClr val="9FB1CA"/>
                </a:solidFill>
                <a:latin typeface="Aptos"/>
              </a:defRPr>
            </a:pPr>
            <a:r>
              <a:t>Illustrative workflow panels — not production screenshots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510528"/>
            <a:ext cx="6858000" cy="1828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900" b="1">
                <a:solidFill>
                  <a:srgbClr val="9FB1CA"/>
                </a:solidFill>
                <a:latin typeface="Aptos"/>
              </a:defRPr>
            </a:pPr>
            <a:r>
              <a:t>TELECOM NETOPS AI ASSISTANT  /  CAPSTONE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52760" y="6473952"/>
            <a:ext cx="822960" cy="190821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r">
              <a:defRPr sz="1000" b="1">
                <a:solidFill>
                  <a:srgbClr val="2AD6E6"/>
                </a:solidFill>
                <a:latin typeface="Aptos"/>
              </a:defRPr>
            </a:pPr>
            <a:r>
              <a:rPr lang="en-IN" dirty="0"/>
              <a:t>8</a:t>
            </a:r>
            <a:endParaRPr dirty="0"/>
          </a:p>
        </p:txBody>
      </p:sp>
      <p:sp>
        <p:nvSpPr>
          <p:cNvPr id="36" name="Rectangle 35"/>
          <p:cNvSpPr/>
          <p:nvPr/>
        </p:nvSpPr>
        <p:spPr>
          <a:xfrm>
            <a:off x="658368" y="6382512"/>
            <a:ext cx="10881360" cy="10972"/>
          </a:xfrm>
          <a:prstGeom prst="rect">
            <a:avLst/>
          </a:prstGeom>
          <a:solidFill>
            <a:srgbClr val="2A3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692640" y="-914400"/>
            <a:ext cx="3931920" cy="3931920"/>
          </a:xfrm>
          <a:prstGeom prst="ellipse">
            <a:avLst/>
          </a:prstGeom>
          <a:solidFill>
            <a:srgbClr val="0E2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2011680" cy="190821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1">
                <a:solidFill>
                  <a:srgbClr val="2AD6E6"/>
                </a:solidFill>
                <a:latin typeface="Aptos"/>
              </a:defRPr>
            </a:pPr>
            <a:r>
              <a:rPr dirty="0"/>
              <a:t>SLIDE</a:t>
            </a:r>
            <a:r>
              <a:rPr lang="en-IN" dirty="0"/>
              <a:t> </a:t>
            </a:r>
            <a:r>
              <a:rPr dirty="0"/>
              <a:t> </a:t>
            </a:r>
            <a:r>
              <a:rPr lang="en-IN" dirty="0"/>
              <a:t>9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515600" cy="56692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3000" b="1">
                <a:solidFill>
                  <a:srgbClr val="EFF6FF"/>
                </a:solidFill>
                <a:latin typeface="Aptos"/>
              </a:defRPr>
            </a:pPr>
            <a:r>
              <a:t>Evaluation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298448"/>
            <a:ext cx="10515600" cy="34747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500" b="0">
                <a:solidFill>
                  <a:srgbClr val="9FB1CA"/>
                </a:solidFill>
                <a:latin typeface="Aptos"/>
              </a:defRPr>
            </a:pPr>
            <a:r>
              <a:t>Strong retrieval and test-harness results, with answer quality measured separately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746504"/>
            <a:ext cx="658368" cy="41148"/>
          </a:xfrm>
          <a:prstGeom prst="rect">
            <a:avLst/>
          </a:prstGeom>
          <a:solidFill>
            <a:srgbClr val="2AD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1993392"/>
            <a:ext cx="5486400" cy="4069080"/>
          </a:xfrm>
          <a:prstGeom prst="rect">
            <a:avLst/>
          </a:prstGeom>
          <a:noFill/>
        </p:spPr>
        <p:txBody>
          <a:bodyPr wrap="square" lIns="27432" tIns="18288" rIns="54864" bIns="18288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EFF6FF"/>
                </a:solidFill>
                <a:latin typeface="Aptos"/>
              </a:defRPr>
            </a:pPr>
            <a:r>
              <a:t>•  Retrieval Hit@k: 100% on the reported evaluation set</a:t>
            </a:r>
          </a:p>
          <a:p>
            <a:pPr>
              <a:spcAft>
                <a:spcPts val="1800"/>
              </a:spcAft>
              <a:defRPr sz="1800">
                <a:solidFill>
                  <a:srgbClr val="EFF6FF"/>
                </a:solidFill>
                <a:latin typeface="Aptos"/>
              </a:defRPr>
            </a:pPr>
            <a:r>
              <a:t>•  RAGAS: Faithfulness 88% · Response Relevancy 93% · Context Precision 90%</a:t>
            </a:r>
          </a:p>
          <a:p>
            <a:pPr>
              <a:spcAft>
                <a:spcPts val="1800"/>
              </a:spcAft>
              <a:defRPr sz="1800">
                <a:solidFill>
                  <a:srgbClr val="EFF6FF"/>
                </a:solidFill>
                <a:latin typeface="Aptos"/>
              </a:defRPr>
            </a:pPr>
            <a:r>
              <a:t>•  DeepEval test harness: 100% pass rate across the configured tests</a:t>
            </a:r>
          </a:p>
          <a:p>
            <a:pPr>
              <a:spcAft>
                <a:spcPts val="1800"/>
              </a:spcAft>
              <a:defRPr sz="1800">
                <a:solidFill>
                  <a:srgbClr val="EFF6FF"/>
                </a:solidFill>
                <a:latin typeface="Aptos"/>
              </a:defRPr>
            </a:pPr>
            <a:r>
              <a:t>•  Interpretation: promising baseline; validate on broader, held-out incident scenarios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46520" y="1874519"/>
            <a:ext cx="5074920" cy="4160520"/>
          </a:xfrm>
          <a:prstGeom prst="roundRect">
            <a:avLst/>
          </a:prstGeom>
          <a:solidFill>
            <a:srgbClr val="101D33"/>
          </a:solidFill>
          <a:ln w="10160">
            <a:solidFill>
              <a:srgbClr val="2A3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720840" y="2331720"/>
            <a:ext cx="2057400" cy="960120"/>
          </a:xfrm>
          <a:prstGeom prst="roundRect">
            <a:avLst/>
          </a:prstGeom>
          <a:solidFill>
            <a:srgbClr val="152741"/>
          </a:solidFill>
          <a:ln w="10160">
            <a:solidFill>
              <a:srgbClr val="2AD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30568" y="2441448"/>
            <a:ext cx="1837943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900" b="1">
                <a:solidFill>
                  <a:srgbClr val="2AD6E6"/>
                </a:solidFill>
                <a:latin typeface="Aptos"/>
              </a:defRPr>
            </a:pPr>
            <a:r>
              <a:t>HIT@K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30568" y="2724912"/>
            <a:ext cx="1837943" cy="4114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2200" b="1">
                <a:solidFill>
                  <a:srgbClr val="EFF6FF"/>
                </a:solidFill>
                <a:latin typeface="Aptos"/>
              </a:defRPr>
            </a:pPr>
            <a:r>
              <a:t>100%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98280" y="2331720"/>
            <a:ext cx="2057400" cy="960120"/>
          </a:xfrm>
          <a:prstGeom prst="roundRect">
            <a:avLst/>
          </a:prstGeom>
          <a:solidFill>
            <a:srgbClr val="152741"/>
          </a:solidFill>
          <a:ln w="10160">
            <a:solidFill>
              <a:srgbClr val="9D7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208007" y="2441448"/>
            <a:ext cx="1837943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900" b="1">
                <a:solidFill>
                  <a:srgbClr val="9D74FF"/>
                </a:solidFill>
                <a:latin typeface="Aptos"/>
              </a:defRPr>
            </a:pPr>
            <a:r>
              <a:t>FAITHFULNESS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08007" y="2724912"/>
            <a:ext cx="1837943" cy="4114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2200" b="1">
                <a:solidFill>
                  <a:srgbClr val="EFF6FF"/>
                </a:solidFill>
                <a:latin typeface="Aptos"/>
              </a:defRPr>
            </a:pPr>
            <a:r>
              <a:t>88%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20840" y="3657600"/>
            <a:ext cx="2057400" cy="960120"/>
          </a:xfrm>
          <a:prstGeom prst="roundRect">
            <a:avLst/>
          </a:prstGeom>
          <a:solidFill>
            <a:srgbClr val="152741"/>
          </a:solidFill>
          <a:ln w="10160">
            <a:solidFill>
              <a:srgbClr val="4D8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30568" y="3767328"/>
            <a:ext cx="1837943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900" b="1">
                <a:solidFill>
                  <a:srgbClr val="4D82FF"/>
                </a:solidFill>
                <a:latin typeface="Aptos"/>
              </a:defRPr>
            </a:pPr>
            <a:r>
              <a:t>RESPONSE RELEVANCY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30568" y="4050791"/>
            <a:ext cx="1837943" cy="4114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2200" b="1">
                <a:solidFill>
                  <a:srgbClr val="EFF6FF"/>
                </a:solidFill>
                <a:latin typeface="Aptos"/>
              </a:defRPr>
            </a:pPr>
            <a:r>
              <a:t>93%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98280" y="3657600"/>
            <a:ext cx="2057400" cy="960120"/>
          </a:xfrm>
          <a:prstGeom prst="roundRect">
            <a:avLst/>
          </a:prstGeom>
          <a:solidFill>
            <a:srgbClr val="152741"/>
          </a:solidFill>
          <a:ln w="10160">
            <a:solidFill>
              <a:srgbClr val="47DC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208007" y="3767328"/>
            <a:ext cx="1837943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900" b="1">
                <a:solidFill>
                  <a:srgbClr val="47DCA5"/>
                </a:solidFill>
                <a:latin typeface="Aptos"/>
              </a:defRPr>
            </a:pPr>
            <a:r>
              <a:t>CONTEXT PRECISION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08007" y="4050791"/>
            <a:ext cx="1837943" cy="4114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2200" b="1">
                <a:solidFill>
                  <a:srgbClr val="EFF6FF"/>
                </a:solidFill>
                <a:latin typeface="Aptos"/>
              </a:defRPr>
            </a:pPr>
            <a:r>
              <a:t>90%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09560" y="4983480"/>
            <a:ext cx="2057400" cy="960120"/>
          </a:xfrm>
          <a:prstGeom prst="roundRect">
            <a:avLst/>
          </a:prstGeom>
          <a:solidFill>
            <a:srgbClr val="152741"/>
          </a:solidFill>
          <a:ln w="10160">
            <a:solidFill>
              <a:srgbClr val="FFBE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019288" y="5093208"/>
            <a:ext cx="1837943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900" b="1">
                <a:solidFill>
                  <a:srgbClr val="FFBE4B"/>
                </a:solidFill>
                <a:latin typeface="Aptos"/>
              </a:defRPr>
            </a:pPr>
            <a:r>
              <a:t>DEEPEVAL PASS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19288" y="5376672"/>
            <a:ext cx="1837943" cy="4114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2200" b="1">
                <a:solidFill>
                  <a:srgbClr val="EFF6FF"/>
                </a:solidFill>
                <a:latin typeface="Aptos"/>
              </a:defRPr>
            </a:pPr>
            <a:r>
              <a:t>100%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12280" y="5989320"/>
            <a:ext cx="4480560" cy="1371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800" b="0">
                <a:solidFill>
                  <a:srgbClr val="9FB1CA"/>
                </a:solidFill>
                <a:latin typeface="Aptos"/>
              </a:defRPr>
            </a:pPr>
            <a:r>
              <a:t>Reported evaluation set; validate on held-out scenarios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6510528"/>
            <a:ext cx="6858000" cy="1828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900" b="1">
                <a:solidFill>
                  <a:srgbClr val="9FB1CA"/>
                </a:solidFill>
                <a:latin typeface="Aptos"/>
              </a:defRPr>
            </a:pPr>
            <a:r>
              <a:t>TELECOM NETOPS AI ASSISTANT  /  CAPSTONE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52760" y="6473952"/>
            <a:ext cx="822960" cy="190821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r">
              <a:defRPr sz="1000" b="1">
                <a:solidFill>
                  <a:srgbClr val="2AD6E6"/>
                </a:solidFill>
                <a:latin typeface="Aptos"/>
              </a:defRPr>
            </a:pPr>
            <a:r>
              <a:rPr dirty="0"/>
              <a:t>9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6382512"/>
            <a:ext cx="10881360" cy="10972"/>
          </a:xfrm>
          <a:prstGeom prst="rect">
            <a:avLst/>
          </a:prstGeom>
          <a:solidFill>
            <a:srgbClr val="2A3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692640" y="-914400"/>
            <a:ext cx="3931920" cy="3931920"/>
          </a:xfrm>
          <a:prstGeom prst="ellipse">
            <a:avLst/>
          </a:prstGeom>
          <a:solidFill>
            <a:srgbClr val="0E2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2011680" cy="190821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1">
                <a:solidFill>
                  <a:srgbClr val="2AD6E6"/>
                </a:solidFill>
                <a:latin typeface="Aptos"/>
              </a:defRPr>
            </a:pPr>
            <a:r>
              <a:rPr dirty="0"/>
              <a:t>SLIDE </a:t>
            </a:r>
            <a:r>
              <a:rPr lang="en-IN" dirty="0"/>
              <a:t> </a:t>
            </a:r>
            <a:r>
              <a:rPr dirty="0"/>
              <a:t>1</a:t>
            </a:r>
            <a:r>
              <a:rPr lang="en-IN" dirty="0"/>
              <a:t>0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515600" cy="56692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3000" b="1">
                <a:solidFill>
                  <a:srgbClr val="EFF6FF"/>
                </a:solidFill>
                <a:latin typeface="Aptos"/>
              </a:defRPr>
            </a:pPr>
            <a:r>
              <a:t>Challenges &amp; Learnings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298448"/>
            <a:ext cx="10515600" cy="34747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500" b="0">
                <a:solidFill>
                  <a:srgbClr val="9FB1CA"/>
                </a:solidFill>
                <a:latin typeface="Aptos"/>
              </a:defRPr>
            </a:pPr>
            <a:r>
              <a:t>Reliability comes from engineering for scale, time and failure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746504"/>
            <a:ext cx="658368" cy="41148"/>
          </a:xfrm>
          <a:prstGeom prst="rect">
            <a:avLst/>
          </a:prstGeom>
          <a:solidFill>
            <a:srgbClr val="2AD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1993392"/>
            <a:ext cx="5486400" cy="4069080"/>
          </a:xfrm>
          <a:prstGeom prst="rect">
            <a:avLst/>
          </a:prstGeom>
          <a:noFill/>
        </p:spPr>
        <p:txBody>
          <a:bodyPr wrap="square" lIns="27432" tIns="18288" rIns="54864" bIns="18288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EFF6FF"/>
                </a:solidFill>
                <a:latin typeface="Aptos"/>
              </a:defRPr>
            </a:pPr>
            <a:r>
              <a:t>•  100K telemetry rows: balance retrieval quality with response latency and indexing cost</a:t>
            </a:r>
          </a:p>
          <a:p>
            <a:pPr>
              <a:spcAft>
                <a:spcPts val="1800"/>
              </a:spcAft>
              <a:defRPr sz="1800">
                <a:solidFill>
                  <a:srgbClr val="EFF6FF"/>
                </a:solidFill>
                <a:latin typeface="Aptos"/>
              </a:defRPr>
            </a:pPr>
            <a:r>
              <a:t>•  Temporal hallucinations: verify trend claims against available time-stamped evidence</a:t>
            </a:r>
          </a:p>
          <a:p>
            <a:pPr>
              <a:spcAft>
                <a:spcPts val="1800"/>
              </a:spcAft>
              <a:defRPr sz="1800">
                <a:solidFill>
                  <a:srgbClr val="EFF6FF"/>
                </a:solidFill>
                <a:latin typeface="Aptos"/>
              </a:defRPr>
            </a:pPr>
            <a:r>
              <a:t>•  Metadata sparsity: relax filters carefully without losing geographic relevance</a:t>
            </a:r>
          </a:p>
          <a:p>
            <a:pPr>
              <a:spcAft>
                <a:spcPts val="1800"/>
              </a:spcAft>
              <a:defRPr sz="1800">
                <a:solidFill>
                  <a:srgbClr val="EFF6FF"/>
                </a:solidFill>
                <a:latin typeface="Aptos"/>
              </a:defRPr>
            </a:pPr>
            <a:r>
              <a:t>•  Offline fallback: preserve local retrieval and evidence when an LLM API is unavailable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46520" y="1874519"/>
            <a:ext cx="5074920" cy="4160520"/>
          </a:xfrm>
          <a:prstGeom prst="roundRect">
            <a:avLst/>
          </a:prstGeom>
          <a:solidFill>
            <a:srgbClr val="101D33"/>
          </a:solidFill>
          <a:ln w="10160">
            <a:solidFill>
              <a:srgbClr val="2A3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766560" y="2267712"/>
            <a:ext cx="1828800" cy="530352"/>
          </a:xfrm>
          <a:prstGeom prst="roundRect">
            <a:avLst/>
          </a:prstGeom>
          <a:solidFill>
            <a:srgbClr val="152741"/>
          </a:solidFill>
          <a:ln w="10160">
            <a:solidFill>
              <a:srgbClr val="2AD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76288" y="2386584"/>
            <a:ext cx="160020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900" b="1">
                <a:solidFill>
                  <a:srgbClr val="2AD6E6"/>
                </a:solidFill>
                <a:latin typeface="Aptos"/>
              </a:defRPr>
            </a:pPr>
            <a:r>
              <a:t>100K ROWS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668512" y="2542032"/>
            <a:ext cx="384048" cy="0"/>
          </a:xfrm>
          <a:prstGeom prst="line">
            <a:avLst/>
          </a:prstGeom>
          <a:ln w="17780">
            <a:solidFill>
              <a:srgbClr val="2AD6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9125712" y="2267712"/>
            <a:ext cx="2057400" cy="530352"/>
          </a:xfrm>
          <a:prstGeom prst="roundRect">
            <a:avLst/>
          </a:prstGeom>
          <a:solidFill>
            <a:srgbClr val="152741"/>
          </a:solidFill>
          <a:ln w="10160">
            <a:solidFill>
              <a:srgbClr val="2A3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235440" y="2359152"/>
            <a:ext cx="1828800" cy="34747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900" b="1">
                <a:solidFill>
                  <a:srgbClr val="EFF6FF"/>
                </a:solidFill>
                <a:latin typeface="Aptos"/>
              </a:defRPr>
            </a:pPr>
            <a:r>
              <a:t>Index + latency profiling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66560" y="3017520"/>
            <a:ext cx="1828800" cy="530352"/>
          </a:xfrm>
          <a:prstGeom prst="roundRect">
            <a:avLst/>
          </a:prstGeom>
          <a:solidFill>
            <a:srgbClr val="152741"/>
          </a:solidFill>
          <a:ln w="10160">
            <a:solidFill>
              <a:srgbClr val="9D7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76288" y="3136391"/>
            <a:ext cx="160020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900" b="1">
                <a:solidFill>
                  <a:srgbClr val="9D74FF"/>
                </a:solidFill>
                <a:latin typeface="Aptos"/>
              </a:defRPr>
            </a:pPr>
            <a:r>
              <a:t>TEMPORAL CLAIMS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668512" y="3291839"/>
            <a:ext cx="384048" cy="0"/>
          </a:xfrm>
          <a:prstGeom prst="line">
            <a:avLst/>
          </a:prstGeom>
          <a:ln w="17780">
            <a:solidFill>
              <a:srgbClr val="9D7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9125712" y="3017520"/>
            <a:ext cx="2057400" cy="530352"/>
          </a:xfrm>
          <a:prstGeom prst="roundRect">
            <a:avLst/>
          </a:prstGeom>
          <a:solidFill>
            <a:srgbClr val="152741"/>
          </a:solidFill>
          <a:ln w="10160">
            <a:solidFill>
              <a:srgbClr val="2A3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235440" y="3108960"/>
            <a:ext cx="1828800" cy="34747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900" b="1">
                <a:solidFill>
                  <a:srgbClr val="EFF6FF"/>
                </a:solidFill>
                <a:latin typeface="Aptos"/>
              </a:defRPr>
            </a:pPr>
            <a:r>
              <a:t>Evidence-backed trend verification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766560" y="3767328"/>
            <a:ext cx="1828800" cy="530352"/>
          </a:xfrm>
          <a:prstGeom prst="roundRect">
            <a:avLst/>
          </a:prstGeom>
          <a:solidFill>
            <a:srgbClr val="152741"/>
          </a:solidFill>
          <a:ln w="10160">
            <a:solidFill>
              <a:srgbClr val="FFBE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76288" y="3886200"/>
            <a:ext cx="160020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900" b="1">
                <a:solidFill>
                  <a:srgbClr val="FFBE4B"/>
                </a:solidFill>
                <a:latin typeface="Aptos"/>
              </a:defRPr>
            </a:pPr>
            <a:r>
              <a:t>SPARSE METADATA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668512" y="4041648"/>
            <a:ext cx="384048" cy="0"/>
          </a:xfrm>
          <a:prstGeom prst="line">
            <a:avLst/>
          </a:prstGeom>
          <a:ln w="17780">
            <a:solidFill>
              <a:srgbClr val="FFB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125712" y="3767328"/>
            <a:ext cx="2057400" cy="530352"/>
          </a:xfrm>
          <a:prstGeom prst="roundRect">
            <a:avLst/>
          </a:prstGeom>
          <a:solidFill>
            <a:srgbClr val="152741"/>
          </a:solidFill>
          <a:ln w="10160">
            <a:solidFill>
              <a:srgbClr val="2A3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235440" y="3858768"/>
            <a:ext cx="1828800" cy="34747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900" b="1">
                <a:solidFill>
                  <a:srgbClr val="EFF6FF"/>
                </a:solidFill>
                <a:latin typeface="Aptos"/>
              </a:defRPr>
            </a:pPr>
            <a:r>
              <a:t>Controlled filter relaxation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766560" y="4517136"/>
            <a:ext cx="1828800" cy="530352"/>
          </a:xfrm>
          <a:prstGeom prst="roundRect">
            <a:avLst/>
          </a:prstGeom>
          <a:solidFill>
            <a:srgbClr val="152741"/>
          </a:solidFill>
          <a:ln w="10160">
            <a:solidFill>
              <a:srgbClr val="47DC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876288" y="4636007"/>
            <a:ext cx="160020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900" b="1">
                <a:solidFill>
                  <a:srgbClr val="47DCA5"/>
                </a:solidFill>
                <a:latin typeface="Aptos"/>
              </a:defRPr>
            </a:pPr>
            <a:r>
              <a:t>API UNAVAILABLE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668512" y="4791455"/>
            <a:ext cx="384048" cy="0"/>
          </a:xfrm>
          <a:prstGeom prst="line">
            <a:avLst/>
          </a:prstGeom>
          <a:ln w="17780">
            <a:solidFill>
              <a:srgbClr val="47DC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9125712" y="4517136"/>
            <a:ext cx="2057400" cy="530352"/>
          </a:xfrm>
          <a:prstGeom prst="roundRect">
            <a:avLst/>
          </a:prstGeom>
          <a:solidFill>
            <a:srgbClr val="152741"/>
          </a:solidFill>
          <a:ln w="10160">
            <a:solidFill>
              <a:srgbClr val="2A3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235440" y="4608575"/>
            <a:ext cx="1828800" cy="34747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900" b="1">
                <a:solidFill>
                  <a:srgbClr val="EFF6FF"/>
                </a:solidFill>
                <a:latin typeface="Aptos"/>
              </a:defRPr>
            </a:pPr>
            <a:r>
              <a:t>Local retrieval/evidence fallback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49440" y="5440680"/>
            <a:ext cx="416052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100" b="1">
                <a:solidFill>
                  <a:srgbClr val="2AD6E6"/>
                </a:solidFill>
                <a:latin typeface="Aptos"/>
              </a:defRPr>
            </a:pPr>
            <a:r>
              <a:t>Resilience is designed, tested and reviewed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6510528"/>
            <a:ext cx="6858000" cy="1828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900" b="1">
                <a:solidFill>
                  <a:srgbClr val="9FB1CA"/>
                </a:solidFill>
                <a:latin typeface="Aptos"/>
              </a:defRPr>
            </a:pPr>
            <a:r>
              <a:t>TELECOM NETOPS AI ASSISTANT  /  CAPSTONE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52760" y="6473952"/>
            <a:ext cx="822960" cy="190821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r">
              <a:defRPr sz="1000" b="1">
                <a:solidFill>
                  <a:srgbClr val="2AD6E6"/>
                </a:solidFill>
                <a:latin typeface="Aptos"/>
              </a:defRPr>
            </a:pPr>
            <a:r>
              <a:rPr dirty="0"/>
              <a:t>1</a:t>
            </a:r>
            <a:r>
              <a:rPr lang="en-IN" dirty="0"/>
              <a:t>0</a:t>
            </a:r>
            <a:endParaRPr dirty="0"/>
          </a:p>
        </p:txBody>
      </p:sp>
      <p:sp>
        <p:nvSpPr>
          <p:cNvPr id="32" name="Rectangle 31"/>
          <p:cNvSpPr/>
          <p:nvPr/>
        </p:nvSpPr>
        <p:spPr>
          <a:xfrm>
            <a:off x="658368" y="6382512"/>
            <a:ext cx="10881360" cy="10972"/>
          </a:xfrm>
          <a:prstGeom prst="rect">
            <a:avLst/>
          </a:prstGeom>
          <a:solidFill>
            <a:srgbClr val="2A3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1011</Words>
  <Application>Microsoft Office PowerPoint</Application>
  <PresentationFormat>Widescreen</PresentationFormat>
  <Paragraphs>197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Somalita Priyadarshinee</cp:lastModifiedBy>
  <cp:revision>2</cp:revision>
  <dcterms:created xsi:type="dcterms:W3CDTF">2013-01-27T09:14:16Z</dcterms:created>
  <dcterms:modified xsi:type="dcterms:W3CDTF">2026-10-11T05:25:11Z</dcterms:modified>
  <cp:category/>
</cp:coreProperties>
</file>